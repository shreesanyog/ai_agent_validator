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DM Sans" pitchFamily="2" charset="0"/>
      <p:regular r:id="rId9"/>
    </p:embeddedFont>
    <p:embeddedFont>
      <p:font typeface="DM Sans Bold" panose="020B0604020202020204" charset="0"/>
      <p:regular r:id="rId10"/>
    </p:embeddedFont>
    <p:embeddedFont>
      <p:font typeface="TT Hoves" panose="020B0604020202020204" charset="0"/>
      <p:regular r:id="rId11"/>
    </p:embeddedFont>
    <p:embeddedFont>
      <p:font typeface="TT Hoves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0" d="100"/>
          <a:sy n="40" d="100"/>
        </p:scale>
        <p:origin x="122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7788875" y="-6134713"/>
            <a:ext cx="0" cy="20954906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5906391" y="9186939"/>
            <a:ext cx="5316075" cy="1969184"/>
            <a:chOff x="0" y="0"/>
            <a:chExt cx="1400119" cy="5186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00119" cy="518633"/>
            </a:xfrm>
            <a:custGeom>
              <a:avLst/>
              <a:gdLst/>
              <a:ahLst/>
              <a:cxnLst/>
              <a:rect l="l" t="t" r="r" b="b"/>
              <a:pathLst>
                <a:path w="1400119" h="518633">
                  <a:moveTo>
                    <a:pt x="145632" y="0"/>
                  </a:moveTo>
                  <a:lnTo>
                    <a:pt x="1254486" y="0"/>
                  </a:lnTo>
                  <a:cubicBezTo>
                    <a:pt x="1334917" y="0"/>
                    <a:pt x="1400119" y="65202"/>
                    <a:pt x="1400119" y="145632"/>
                  </a:cubicBezTo>
                  <a:lnTo>
                    <a:pt x="1400119" y="373000"/>
                  </a:lnTo>
                  <a:cubicBezTo>
                    <a:pt x="1400119" y="411625"/>
                    <a:pt x="1384775" y="448667"/>
                    <a:pt x="1357464" y="475978"/>
                  </a:cubicBezTo>
                  <a:cubicBezTo>
                    <a:pt x="1330153" y="503289"/>
                    <a:pt x="1293110" y="518633"/>
                    <a:pt x="1254486" y="518633"/>
                  </a:cubicBezTo>
                  <a:lnTo>
                    <a:pt x="145632" y="518633"/>
                  </a:lnTo>
                  <a:cubicBezTo>
                    <a:pt x="107008" y="518633"/>
                    <a:pt x="69966" y="503289"/>
                    <a:pt x="42655" y="475978"/>
                  </a:cubicBezTo>
                  <a:cubicBezTo>
                    <a:pt x="15343" y="448667"/>
                    <a:pt x="0" y="411625"/>
                    <a:pt x="0" y="373000"/>
                  </a:cubicBezTo>
                  <a:lnTo>
                    <a:pt x="0" y="145632"/>
                  </a:lnTo>
                  <a:cubicBezTo>
                    <a:pt x="0" y="107008"/>
                    <a:pt x="15343" y="69966"/>
                    <a:pt x="42655" y="42655"/>
                  </a:cubicBezTo>
                  <a:cubicBezTo>
                    <a:pt x="69966" y="15343"/>
                    <a:pt x="107008" y="0"/>
                    <a:pt x="145632" y="0"/>
                  </a:cubicBezTo>
                  <a:close/>
                </a:path>
              </a:pathLst>
            </a:custGeom>
            <a:solidFill>
              <a:srgbClr val="222B5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00119" cy="5567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10347177" y="-6913393"/>
            <a:ext cx="0" cy="20954906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6153912" y="9758439"/>
            <a:ext cx="17800010" cy="2065376"/>
            <a:chOff x="0" y="0"/>
            <a:chExt cx="4688069" cy="5439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688068" cy="543967"/>
            </a:xfrm>
            <a:custGeom>
              <a:avLst/>
              <a:gdLst/>
              <a:ahLst/>
              <a:cxnLst/>
              <a:rect l="l" t="t" r="r" b="b"/>
              <a:pathLst>
                <a:path w="4688068" h="543967">
                  <a:moveTo>
                    <a:pt x="43494" y="0"/>
                  </a:moveTo>
                  <a:lnTo>
                    <a:pt x="4644575" y="0"/>
                  </a:lnTo>
                  <a:cubicBezTo>
                    <a:pt x="4668596" y="0"/>
                    <a:pt x="4688068" y="19473"/>
                    <a:pt x="4688068" y="43494"/>
                  </a:cubicBezTo>
                  <a:lnTo>
                    <a:pt x="4688068" y="500473"/>
                  </a:lnTo>
                  <a:cubicBezTo>
                    <a:pt x="4688068" y="524494"/>
                    <a:pt x="4668596" y="543967"/>
                    <a:pt x="4644575" y="543967"/>
                  </a:cubicBezTo>
                  <a:lnTo>
                    <a:pt x="43494" y="543967"/>
                  </a:lnTo>
                  <a:cubicBezTo>
                    <a:pt x="19473" y="543967"/>
                    <a:pt x="0" y="524494"/>
                    <a:pt x="0" y="500473"/>
                  </a:cubicBezTo>
                  <a:lnTo>
                    <a:pt x="0" y="43494"/>
                  </a:lnTo>
                  <a:cubicBezTo>
                    <a:pt x="0" y="19473"/>
                    <a:pt x="19473" y="0"/>
                    <a:pt x="43494" y="0"/>
                  </a:cubicBezTo>
                  <a:close/>
                </a:path>
              </a:pathLst>
            </a:custGeom>
            <a:solidFill>
              <a:srgbClr val="222B5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688069" cy="5820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686950" y="551833"/>
            <a:ext cx="8914100" cy="580379"/>
            <a:chOff x="0" y="0"/>
            <a:chExt cx="2347746" cy="15285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347746" cy="152857"/>
            </a:xfrm>
            <a:custGeom>
              <a:avLst/>
              <a:gdLst/>
              <a:ahLst/>
              <a:cxnLst/>
              <a:rect l="l" t="t" r="r" b="b"/>
              <a:pathLst>
                <a:path w="2347746" h="152857">
                  <a:moveTo>
                    <a:pt x="76429" y="0"/>
                  </a:moveTo>
                  <a:lnTo>
                    <a:pt x="2271318" y="0"/>
                  </a:lnTo>
                  <a:cubicBezTo>
                    <a:pt x="2291588" y="0"/>
                    <a:pt x="2311028" y="8052"/>
                    <a:pt x="2325361" y="22385"/>
                  </a:cubicBezTo>
                  <a:cubicBezTo>
                    <a:pt x="2339694" y="36719"/>
                    <a:pt x="2347746" y="56158"/>
                    <a:pt x="2347746" y="76429"/>
                  </a:cubicBezTo>
                  <a:lnTo>
                    <a:pt x="2347746" y="76429"/>
                  </a:lnTo>
                  <a:cubicBezTo>
                    <a:pt x="2347746" y="96699"/>
                    <a:pt x="2339694" y="116139"/>
                    <a:pt x="2325361" y="130472"/>
                  </a:cubicBezTo>
                  <a:cubicBezTo>
                    <a:pt x="2311028" y="144805"/>
                    <a:pt x="2291588" y="152857"/>
                    <a:pt x="2271318" y="152857"/>
                  </a:cubicBezTo>
                  <a:lnTo>
                    <a:pt x="76429" y="152857"/>
                  </a:lnTo>
                  <a:cubicBezTo>
                    <a:pt x="56158" y="152857"/>
                    <a:pt x="36719" y="144805"/>
                    <a:pt x="22385" y="130472"/>
                  </a:cubicBezTo>
                  <a:cubicBezTo>
                    <a:pt x="8052" y="116139"/>
                    <a:pt x="0" y="96699"/>
                    <a:pt x="0" y="76429"/>
                  </a:cubicBezTo>
                  <a:lnTo>
                    <a:pt x="0" y="76429"/>
                  </a:lnTo>
                  <a:cubicBezTo>
                    <a:pt x="0" y="56158"/>
                    <a:pt x="8052" y="36719"/>
                    <a:pt x="22385" y="22385"/>
                  </a:cubicBezTo>
                  <a:cubicBezTo>
                    <a:pt x="36719" y="8052"/>
                    <a:pt x="56158" y="0"/>
                    <a:pt x="76429" y="0"/>
                  </a:cubicBezTo>
                  <a:close/>
                </a:path>
              </a:pathLst>
            </a:custGeom>
            <a:solidFill>
              <a:srgbClr val="222B52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347746" cy="1909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>
            <a:off x="-1618300" y="1699485"/>
            <a:ext cx="20954906" cy="0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>
            <a:off x="-1618300" y="8111239"/>
            <a:ext cx="20954906" cy="0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5" name="Group 15"/>
          <p:cNvGrpSpPr/>
          <p:nvPr/>
        </p:nvGrpSpPr>
        <p:grpSpPr>
          <a:xfrm>
            <a:off x="14667407" y="7757364"/>
            <a:ext cx="1463097" cy="591470"/>
            <a:chOff x="0" y="0"/>
            <a:chExt cx="385342" cy="15577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85342" cy="155778"/>
            </a:xfrm>
            <a:custGeom>
              <a:avLst/>
              <a:gdLst/>
              <a:ahLst/>
              <a:cxnLst/>
              <a:rect l="l" t="t" r="r" b="b"/>
              <a:pathLst>
                <a:path w="385342" h="155778">
                  <a:moveTo>
                    <a:pt x="77889" y="0"/>
                  </a:moveTo>
                  <a:lnTo>
                    <a:pt x="307453" y="0"/>
                  </a:lnTo>
                  <a:cubicBezTo>
                    <a:pt x="328111" y="0"/>
                    <a:pt x="347922" y="8206"/>
                    <a:pt x="362529" y="22813"/>
                  </a:cubicBezTo>
                  <a:cubicBezTo>
                    <a:pt x="377136" y="37420"/>
                    <a:pt x="385342" y="57232"/>
                    <a:pt x="385342" y="77889"/>
                  </a:cubicBezTo>
                  <a:lnTo>
                    <a:pt x="385342" y="77889"/>
                  </a:lnTo>
                  <a:cubicBezTo>
                    <a:pt x="385342" y="98546"/>
                    <a:pt x="377136" y="118358"/>
                    <a:pt x="362529" y="132965"/>
                  </a:cubicBezTo>
                  <a:cubicBezTo>
                    <a:pt x="347922" y="147572"/>
                    <a:pt x="328111" y="155778"/>
                    <a:pt x="307453" y="155778"/>
                  </a:cubicBezTo>
                  <a:lnTo>
                    <a:pt x="77889" y="155778"/>
                  </a:lnTo>
                  <a:cubicBezTo>
                    <a:pt x="57232" y="155778"/>
                    <a:pt x="37420" y="147572"/>
                    <a:pt x="22813" y="132965"/>
                  </a:cubicBezTo>
                  <a:cubicBezTo>
                    <a:pt x="8206" y="118358"/>
                    <a:pt x="0" y="98546"/>
                    <a:pt x="0" y="77889"/>
                  </a:cubicBezTo>
                  <a:lnTo>
                    <a:pt x="0" y="77889"/>
                  </a:lnTo>
                  <a:cubicBezTo>
                    <a:pt x="0" y="57232"/>
                    <a:pt x="8206" y="37420"/>
                    <a:pt x="22813" y="22813"/>
                  </a:cubicBezTo>
                  <a:cubicBezTo>
                    <a:pt x="37420" y="8206"/>
                    <a:pt x="57232" y="0"/>
                    <a:pt x="77889" y="0"/>
                  </a:cubicBezTo>
                  <a:close/>
                </a:path>
              </a:pathLst>
            </a:custGeom>
            <a:solidFill>
              <a:srgbClr val="222B52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385342" cy="1938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15167628" y="8053099"/>
            <a:ext cx="573192" cy="0"/>
          </a:xfrm>
          <a:prstGeom prst="line">
            <a:avLst/>
          </a:prstGeom>
          <a:ln w="5715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9" name="Freeform 19"/>
          <p:cNvSpPr/>
          <p:nvPr/>
        </p:nvSpPr>
        <p:spPr>
          <a:xfrm>
            <a:off x="11468944" y="1699485"/>
            <a:ext cx="5719856" cy="5787148"/>
          </a:xfrm>
          <a:custGeom>
            <a:avLst/>
            <a:gdLst/>
            <a:ahLst/>
            <a:cxnLst/>
            <a:rect l="l" t="t" r="r" b="b"/>
            <a:pathLst>
              <a:path w="5719856" h="5787148">
                <a:moveTo>
                  <a:pt x="0" y="0"/>
                </a:moveTo>
                <a:lnTo>
                  <a:pt x="5719856" y="0"/>
                </a:lnTo>
                <a:lnTo>
                  <a:pt x="5719856" y="5787148"/>
                </a:lnTo>
                <a:lnTo>
                  <a:pt x="0" y="57871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-118735" y="-359779"/>
            <a:ext cx="3947442" cy="1823225"/>
          </a:xfrm>
          <a:custGeom>
            <a:avLst/>
            <a:gdLst/>
            <a:ahLst/>
            <a:cxnLst/>
            <a:rect l="l" t="t" r="r" b="b"/>
            <a:pathLst>
              <a:path w="3947442" h="1823225">
                <a:moveTo>
                  <a:pt x="0" y="0"/>
                </a:moveTo>
                <a:lnTo>
                  <a:pt x="3947442" y="0"/>
                </a:lnTo>
                <a:lnTo>
                  <a:pt x="3947442" y="1823225"/>
                </a:lnTo>
                <a:lnTo>
                  <a:pt x="0" y="18232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568779" y="2040923"/>
            <a:ext cx="10309615" cy="967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10"/>
              </a:lnSpc>
            </a:pPr>
            <a:r>
              <a:rPr lang="en-US" sz="7900" b="1" spc="-316">
                <a:solidFill>
                  <a:srgbClr val="222223"/>
                </a:solidFill>
                <a:latin typeface="TT Hoves Bold"/>
                <a:ea typeface="TT Hoves Bold"/>
                <a:cs typeface="TT Hoves Bold"/>
                <a:sym typeface="TT Hoves Bold"/>
              </a:rPr>
              <a:t> AVaaS :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94466" y="3269650"/>
            <a:ext cx="13872941" cy="674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19"/>
              </a:lnSpc>
            </a:pPr>
            <a:r>
              <a:rPr lang="en-US" sz="5466" spc="-218">
                <a:solidFill>
                  <a:srgbClr val="222223"/>
                </a:solidFill>
                <a:latin typeface="TT Hoves"/>
                <a:ea typeface="TT Hoves"/>
                <a:cs typeface="TT Hoves"/>
                <a:sym typeface="TT Hoves"/>
              </a:rPr>
              <a:t>AI Quality Engineering Platform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97425" y="686844"/>
            <a:ext cx="155802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TechC</a:t>
            </a:r>
            <a:r>
              <a:rPr lang="en-US" sz="1600" u="none" strike="noStrike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on 2026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307086" y="686130"/>
            <a:ext cx="1760394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QE Track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44200" y="8644639"/>
            <a:ext cx="5932237" cy="979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1"/>
              </a:lnSpc>
            </a:pPr>
            <a:r>
              <a:rPr lang="en-US" sz="2399" b="1" spc="-141">
                <a:solidFill>
                  <a:srgbClr val="222B52"/>
                </a:solidFill>
                <a:latin typeface="DM Sans Bold"/>
                <a:ea typeface="DM Sans Bold"/>
                <a:cs typeface="DM Sans Bold"/>
                <a:sym typeface="DM Sans Bold"/>
              </a:rPr>
              <a:t>Industry : QE  |  Sub-Industry : QA Automation </a:t>
            </a:r>
          </a:p>
          <a:p>
            <a:pPr algn="l">
              <a:lnSpc>
                <a:spcPts val="2591"/>
              </a:lnSpc>
            </a:pPr>
            <a:endParaRPr lang="en-US" sz="2399" b="1" spc="-141">
              <a:solidFill>
                <a:srgbClr val="222B52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algn="l">
              <a:lnSpc>
                <a:spcPts val="2591"/>
              </a:lnSpc>
            </a:pPr>
            <a:r>
              <a:rPr lang="en-US" sz="2399" b="1" spc="-141">
                <a:solidFill>
                  <a:srgbClr val="222B52"/>
                </a:solidFill>
                <a:latin typeface="DM Sans Bold"/>
                <a:ea typeface="DM Sans Bold"/>
                <a:cs typeface="DM Sans Bold"/>
                <a:sym typeface="DM Sans Bold"/>
              </a:rPr>
              <a:t>Title : Agent Validator Platform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92185" y="5674421"/>
            <a:ext cx="9775294" cy="1850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91"/>
              </a:lnSpc>
            </a:pPr>
            <a:r>
              <a:rPr lang="en-US" sz="2199" b="1" spc="-54">
                <a:solidFill>
                  <a:srgbClr val="403D39"/>
                </a:solidFill>
                <a:latin typeface="DM Sans Bold"/>
                <a:ea typeface="DM Sans Bold"/>
                <a:cs typeface="DM Sans Bold"/>
                <a:sym typeface="DM Sans Bold"/>
              </a:rPr>
              <a:t>Vision Statement:</a:t>
            </a:r>
            <a:r>
              <a:rPr lang="en-US" sz="2199" spc="-54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 AVaaS is a centralized enterprise AI Quality Hub designed to autonomously test, evaluate, benchmark, and govern AI agents across their lifecycle. Combining zero-integration browser orchestration (Playwright) with Multimodal LLM-as-a-Judge evaluation, AVaaS enables organizations to deploy agentic AI with quantified confidence, security, and ROI.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897986" y="686844"/>
            <a:ext cx="2106447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Team 390-AgentForge</a:t>
            </a:r>
          </a:p>
        </p:txBody>
      </p:sp>
      <p:sp>
        <p:nvSpPr>
          <p:cNvPr id="28" name="Freeform 28"/>
          <p:cNvSpPr/>
          <p:nvPr/>
        </p:nvSpPr>
        <p:spPr>
          <a:xfrm>
            <a:off x="5437045" y="1801466"/>
            <a:ext cx="6711128" cy="6207793"/>
          </a:xfrm>
          <a:custGeom>
            <a:avLst/>
            <a:gdLst/>
            <a:ahLst/>
            <a:cxnLst/>
            <a:rect l="l" t="t" r="r" b="b"/>
            <a:pathLst>
              <a:path w="6711128" h="6207793">
                <a:moveTo>
                  <a:pt x="0" y="0"/>
                </a:moveTo>
                <a:lnTo>
                  <a:pt x="6711128" y="0"/>
                </a:lnTo>
                <a:lnTo>
                  <a:pt x="6711128" y="6207793"/>
                </a:lnTo>
                <a:lnTo>
                  <a:pt x="0" y="62077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</a:blip>
            <a:stretch>
              <a:fillRect/>
            </a:stretch>
          </a:blipFill>
        </p:spPr>
      </p:sp>
      <p:grpSp>
        <p:nvGrpSpPr>
          <p:cNvPr id="29" name="Group 29"/>
          <p:cNvGrpSpPr/>
          <p:nvPr/>
        </p:nvGrpSpPr>
        <p:grpSpPr>
          <a:xfrm>
            <a:off x="741006" y="4305046"/>
            <a:ext cx="7126109" cy="902651"/>
            <a:chOff x="0" y="0"/>
            <a:chExt cx="1876835" cy="23773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876835" cy="237735"/>
            </a:xfrm>
            <a:custGeom>
              <a:avLst/>
              <a:gdLst/>
              <a:ahLst/>
              <a:cxnLst/>
              <a:rect l="l" t="t" r="r" b="b"/>
              <a:pathLst>
                <a:path w="1876835" h="237735">
                  <a:moveTo>
                    <a:pt x="108642" y="0"/>
                  </a:moveTo>
                  <a:lnTo>
                    <a:pt x="1768194" y="0"/>
                  </a:lnTo>
                  <a:cubicBezTo>
                    <a:pt x="1797007" y="0"/>
                    <a:pt x="1824641" y="11446"/>
                    <a:pt x="1845015" y="31820"/>
                  </a:cubicBezTo>
                  <a:cubicBezTo>
                    <a:pt x="1865389" y="52195"/>
                    <a:pt x="1876835" y="79828"/>
                    <a:pt x="1876835" y="108642"/>
                  </a:cubicBezTo>
                  <a:lnTo>
                    <a:pt x="1876835" y="129094"/>
                  </a:lnTo>
                  <a:cubicBezTo>
                    <a:pt x="1876835" y="189095"/>
                    <a:pt x="1828195" y="237735"/>
                    <a:pt x="1768194" y="237735"/>
                  </a:cubicBezTo>
                  <a:lnTo>
                    <a:pt x="108642" y="237735"/>
                  </a:lnTo>
                  <a:cubicBezTo>
                    <a:pt x="48641" y="237735"/>
                    <a:pt x="0" y="189095"/>
                    <a:pt x="0" y="129094"/>
                  </a:cubicBezTo>
                  <a:lnTo>
                    <a:pt x="0" y="108642"/>
                  </a:lnTo>
                  <a:cubicBezTo>
                    <a:pt x="0" y="48641"/>
                    <a:pt x="48641" y="0"/>
                    <a:pt x="108642" y="0"/>
                  </a:cubicBezTo>
                  <a:close/>
                </a:path>
              </a:pathLst>
            </a:custGeom>
            <a:solidFill>
              <a:srgbClr val="222B52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1876835" cy="275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964899" y="4561433"/>
            <a:ext cx="6678323" cy="508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77"/>
              </a:lnSpc>
            </a:pPr>
            <a:r>
              <a:rPr lang="en-US" sz="4086" spc="-163">
                <a:solidFill>
                  <a:srgbClr val="F8F7F0"/>
                </a:solidFill>
                <a:latin typeface="TT Hoves"/>
                <a:ea typeface="TT Hoves"/>
                <a:cs typeface="TT Hoves"/>
                <a:sym typeface="TT Hoves"/>
              </a:rPr>
              <a:t> Coforge TechCon 2026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7348708" y="4611085"/>
            <a:ext cx="294514" cy="294514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7F0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673243" y="4611085"/>
            <a:ext cx="294514" cy="294514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F858D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788436" y="1699485"/>
            <a:ext cx="6711128" cy="6207793"/>
          </a:xfrm>
          <a:custGeom>
            <a:avLst/>
            <a:gdLst/>
            <a:ahLst/>
            <a:cxnLst/>
            <a:rect l="l" t="t" r="r" b="b"/>
            <a:pathLst>
              <a:path w="6711128" h="6207793">
                <a:moveTo>
                  <a:pt x="0" y="0"/>
                </a:moveTo>
                <a:lnTo>
                  <a:pt x="6711128" y="0"/>
                </a:lnTo>
                <a:lnTo>
                  <a:pt x="6711128" y="6207793"/>
                </a:lnTo>
                <a:lnTo>
                  <a:pt x="0" y="62077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 flipV="1">
            <a:off x="17788875" y="-6134713"/>
            <a:ext cx="0" cy="20954906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-1618300" y="1699485"/>
            <a:ext cx="20954906" cy="0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-1618300" y="8111239"/>
            <a:ext cx="20954906" cy="0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15906391" y="9186939"/>
            <a:ext cx="5316075" cy="1969184"/>
            <a:chOff x="0" y="0"/>
            <a:chExt cx="1400119" cy="5186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00119" cy="518633"/>
            </a:xfrm>
            <a:custGeom>
              <a:avLst/>
              <a:gdLst/>
              <a:ahLst/>
              <a:cxnLst/>
              <a:rect l="l" t="t" r="r" b="b"/>
              <a:pathLst>
                <a:path w="1400119" h="518633">
                  <a:moveTo>
                    <a:pt x="145632" y="0"/>
                  </a:moveTo>
                  <a:lnTo>
                    <a:pt x="1254486" y="0"/>
                  </a:lnTo>
                  <a:cubicBezTo>
                    <a:pt x="1334917" y="0"/>
                    <a:pt x="1400119" y="65202"/>
                    <a:pt x="1400119" y="145632"/>
                  </a:cubicBezTo>
                  <a:lnTo>
                    <a:pt x="1400119" y="373000"/>
                  </a:lnTo>
                  <a:cubicBezTo>
                    <a:pt x="1400119" y="411625"/>
                    <a:pt x="1384775" y="448667"/>
                    <a:pt x="1357464" y="475978"/>
                  </a:cubicBezTo>
                  <a:cubicBezTo>
                    <a:pt x="1330153" y="503289"/>
                    <a:pt x="1293110" y="518633"/>
                    <a:pt x="1254486" y="518633"/>
                  </a:cubicBezTo>
                  <a:lnTo>
                    <a:pt x="145632" y="518633"/>
                  </a:lnTo>
                  <a:cubicBezTo>
                    <a:pt x="107008" y="518633"/>
                    <a:pt x="69966" y="503289"/>
                    <a:pt x="42655" y="475978"/>
                  </a:cubicBezTo>
                  <a:cubicBezTo>
                    <a:pt x="15343" y="448667"/>
                    <a:pt x="0" y="411625"/>
                    <a:pt x="0" y="373000"/>
                  </a:cubicBezTo>
                  <a:lnTo>
                    <a:pt x="0" y="145632"/>
                  </a:lnTo>
                  <a:cubicBezTo>
                    <a:pt x="0" y="107008"/>
                    <a:pt x="15343" y="69966"/>
                    <a:pt x="42655" y="42655"/>
                  </a:cubicBezTo>
                  <a:cubicBezTo>
                    <a:pt x="69966" y="15343"/>
                    <a:pt x="107008" y="0"/>
                    <a:pt x="145632" y="0"/>
                  </a:cubicBezTo>
                  <a:close/>
                </a:path>
              </a:pathLst>
            </a:custGeom>
            <a:solidFill>
              <a:srgbClr val="222B5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00119" cy="5567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153912" y="9758439"/>
            <a:ext cx="17800010" cy="2065376"/>
            <a:chOff x="0" y="0"/>
            <a:chExt cx="4688069" cy="54396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688068" cy="543967"/>
            </a:xfrm>
            <a:custGeom>
              <a:avLst/>
              <a:gdLst/>
              <a:ahLst/>
              <a:cxnLst/>
              <a:rect l="l" t="t" r="r" b="b"/>
              <a:pathLst>
                <a:path w="4688068" h="543967">
                  <a:moveTo>
                    <a:pt x="43494" y="0"/>
                  </a:moveTo>
                  <a:lnTo>
                    <a:pt x="4644575" y="0"/>
                  </a:lnTo>
                  <a:cubicBezTo>
                    <a:pt x="4668596" y="0"/>
                    <a:pt x="4688068" y="19473"/>
                    <a:pt x="4688068" y="43494"/>
                  </a:cubicBezTo>
                  <a:lnTo>
                    <a:pt x="4688068" y="500473"/>
                  </a:lnTo>
                  <a:cubicBezTo>
                    <a:pt x="4688068" y="524494"/>
                    <a:pt x="4668596" y="543967"/>
                    <a:pt x="4644575" y="543967"/>
                  </a:cubicBezTo>
                  <a:lnTo>
                    <a:pt x="43494" y="543967"/>
                  </a:lnTo>
                  <a:cubicBezTo>
                    <a:pt x="19473" y="543967"/>
                    <a:pt x="0" y="524494"/>
                    <a:pt x="0" y="500473"/>
                  </a:cubicBezTo>
                  <a:lnTo>
                    <a:pt x="0" y="43494"/>
                  </a:lnTo>
                  <a:cubicBezTo>
                    <a:pt x="0" y="19473"/>
                    <a:pt x="19473" y="0"/>
                    <a:pt x="43494" y="0"/>
                  </a:cubicBezTo>
                  <a:close/>
                </a:path>
              </a:pathLst>
            </a:custGeom>
            <a:solidFill>
              <a:srgbClr val="222B52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688069" cy="5820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88525" y="3688998"/>
            <a:ext cx="7136838" cy="5265658"/>
            <a:chOff x="0" y="0"/>
            <a:chExt cx="1879661" cy="13868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9661" cy="1386840"/>
            </a:xfrm>
            <a:custGeom>
              <a:avLst/>
              <a:gdLst/>
              <a:ahLst/>
              <a:cxnLst/>
              <a:rect l="l" t="t" r="r" b="b"/>
              <a:pathLst>
                <a:path w="1879661" h="1386840">
                  <a:moveTo>
                    <a:pt x="34713" y="0"/>
                  </a:moveTo>
                  <a:lnTo>
                    <a:pt x="1844948" y="0"/>
                  </a:lnTo>
                  <a:cubicBezTo>
                    <a:pt x="1854154" y="0"/>
                    <a:pt x="1862984" y="3657"/>
                    <a:pt x="1869494" y="10167"/>
                  </a:cubicBezTo>
                  <a:cubicBezTo>
                    <a:pt x="1876004" y="16677"/>
                    <a:pt x="1879661" y="25507"/>
                    <a:pt x="1879661" y="34713"/>
                  </a:cubicBezTo>
                  <a:lnTo>
                    <a:pt x="1879661" y="1352127"/>
                  </a:lnTo>
                  <a:cubicBezTo>
                    <a:pt x="1879661" y="1361333"/>
                    <a:pt x="1876004" y="1370163"/>
                    <a:pt x="1869494" y="1376673"/>
                  </a:cubicBezTo>
                  <a:cubicBezTo>
                    <a:pt x="1862984" y="1383183"/>
                    <a:pt x="1854154" y="1386840"/>
                    <a:pt x="1844948" y="1386840"/>
                  </a:cubicBezTo>
                  <a:lnTo>
                    <a:pt x="34713" y="1386840"/>
                  </a:lnTo>
                  <a:cubicBezTo>
                    <a:pt x="25507" y="1386840"/>
                    <a:pt x="16677" y="1383183"/>
                    <a:pt x="10167" y="1376673"/>
                  </a:cubicBezTo>
                  <a:cubicBezTo>
                    <a:pt x="3657" y="1370163"/>
                    <a:pt x="0" y="1361333"/>
                    <a:pt x="0" y="1352127"/>
                  </a:cubicBezTo>
                  <a:lnTo>
                    <a:pt x="0" y="34713"/>
                  </a:lnTo>
                  <a:cubicBezTo>
                    <a:pt x="0" y="25507"/>
                    <a:pt x="3657" y="16677"/>
                    <a:pt x="10167" y="10167"/>
                  </a:cubicBezTo>
                  <a:cubicBezTo>
                    <a:pt x="16677" y="3657"/>
                    <a:pt x="25507" y="0"/>
                    <a:pt x="34713" y="0"/>
                  </a:cubicBezTo>
                  <a:close/>
                </a:path>
              </a:pathLst>
            </a:custGeom>
            <a:solidFill>
              <a:srgbClr val="222B52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879661" cy="14249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568338" y="3696446"/>
            <a:ext cx="8412687" cy="5243660"/>
            <a:chOff x="0" y="0"/>
            <a:chExt cx="2215687" cy="138104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15687" cy="1381046"/>
            </a:xfrm>
            <a:custGeom>
              <a:avLst/>
              <a:gdLst/>
              <a:ahLst/>
              <a:cxnLst/>
              <a:rect l="l" t="t" r="r" b="b"/>
              <a:pathLst>
                <a:path w="2215687" h="1381046">
                  <a:moveTo>
                    <a:pt x="29449" y="0"/>
                  </a:moveTo>
                  <a:lnTo>
                    <a:pt x="2186239" y="0"/>
                  </a:lnTo>
                  <a:cubicBezTo>
                    <a:pt x="2194049" y="0"/>
                    <a:pt x="2201539" y="3103"/>
                    <a:pt x="2207062" y="8625"/>
                  </a:cubicBezTo>
                  <a:cubicBezTo>
                    <a:pt x="2212585" y="14148"/>
                    <a:pt x="2215687" y="21638"/>
                    <a:pt x="2215687" y="29449"/>
                  </a:cubicBezTo>
                  <a:lnTo>
                    <a:pt x="2215687" y="1351598"/>
                  </a:lnTo>
                  <a:cubicBezTo>
                    <a:pt x="2215687" y="1359408"/>
                    <a:pt x="2212585" y="1366898"/>
                    <a:pt x="2207062" y="1372421"/>
                  </a:cubicBezTo>
                  <a:cubicBezTo>
                    <a:pt x="2201539" y="1377944"/>
                    <a:pt x="2194049" y="1381046"/>
                    <a:pt x="2186239" y="1381046"/>
                  </a:cubicBezTo>
                  <a:lnTo>
                    <a:pt x="29449" y="1381046"/>
                  </a:lnTo>
                  <a:cubicBezTo>
                    <a:pt x="21638" y="1381046"/>
                    <a:pt x="14148" y="1377944"/>
                    <a:pt x="8625" y="1372421"/>
                  </a:cubicBezTo>
                  <a:cubicBezTo>
                    <a:pt x="3103" y="1366898"/>
                    <a:pt x="0" y="1359408"/>
                    <a:pt x="0" y="1351598"/>
                  </a:cubicBezTo>
                  <a:lnTo>
                    <a:pt x="0" y="29449"/>
                  </a:lnTo>
                  <a:cubicBezTo>
                    <a:pt x="0" y="21638"/>
                    <a:pt x="3103" y="14148"/>
                    <a:pt x="8625" y="8625"/>
                  </a:cubicBezTo>
                  <a:cubicBezTo>
                    <a:pt x="14148" y="3103"/>
                    <a:pt x="21638" y="0"/>
                    <a:pt x="29449" y="0"/>
                  </a:cubicBezTo>
                  <a:close/>
                </a:path>
              </a:pathLst>
            </a:custGeom>
            <a:solidFill>
              <a:srgbClr val="C6CDD6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215687" cy="14191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633176" y="2128110"/>
            <a:ext cx="18703430" cy="751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96"/>
              </a:lnSpc>
            </a:pPr>
            <a:r>
              <a:rPr lang="en-US" sz="6218" b="1" spc="-248">
                <a:solidFill>
                  <a:srgbClr val="222223"/>
                </a:solidFill>
                <a:latin typeface="TT Hoves Bold"/>
                <a:ea typeface="TT Hoves Bold"/>
                <a:cs typeface="TT Hoves Bold"/>
                <a:sym typeface="TT Hoves Bold"/>
              </a:rPr>
              <a:t>Market Limitations vs. The AVaaS Advantage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1291" y="5231960"/>
            <a:ext cx="6268734" cy="3708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8" lvl="1" indent="-237489" algn="l">
              <a:lnSpc>
                <a:spcPts val="2991"/>
              </a:lnSpc>
              <a:buFont typeface="Arial"/>
              <a:buChar char="•"/>
            </a:pPr>
            <a:r>
              <a:rPr lang="en-US" sz="2199" b="1" spc="-54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Legacy UI Automation (Selenium): </a:t>
            </a:r>
            <a:r>
              <a:rPr lang="en-US" sz="2199" spc="-5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Relies on brittle DOM selectors and manual scripting. Cannot evaluate generative reasoning or dynamic text.</a:t>
            </a:r>
          </a:p>
          <a:p>
            <a:pPr marL="474978" lvl="1" indent="-237489" algn="l">
              <a:lnSpc>
                <a:spcPts val="2991"/>
              </a:lnSpc>
              <a:buFont typeface="Arial"/>
              <a:buChar char="•"/>
            </a:pPr>
            <a:r>
              <a:rPr lang="en-US" sz="2199" b="1" spc="-54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Backend Evaluators (DeepEval/LangSmith): </a:t>
            </a:r>
            <a:r>
              <a:rPr lang="en-US" sz="2199" spc="-5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Requires heavy SDK instrumentation. Tests backend API payloads but remains completely blind to frontend visual crashes and markdown truncation.</a:t>
            </a:r>
          </a:p>
          <a:p>
            <a:pPr algn="l">
              <a:lnSpc>
                <a:spcPts val="2991"/>
              </a:lnSpc>
            </a:pPr>
            <a:endParaRPr lang="en-US" sz="2199" spc="-5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8709509" y="4803236"/>
            <a:ext cx="8130347" cy="3708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8" lvl="1" indent="-237489" algn="l">
              <a:lnSpc>
                <a:spcPts val="2991"/>
              </a:lnSpc>
              <a:buFont typeface="Arial"/>
              <a:buChar char="•"/>
            </a:pPr>
            <a:r>
              <a:rPr lang="en-US" sz="2199" b="1" spc="-54">
                <a:solidFill>
                  <a:srgbClr val="403D39"/>
                </a:solidFill>
                <a:latin typeface="DM Sans Bold"/>
                <a:ea typeface="DM Sans Bold"/>
                <a:cs typeface="DM Sans Bold"/>
                <a:sym typeface="DM Sans Bold"/>
              </a:rPr>
              <a:t>Zero-Integration Validation: </a:t>
            </a:r>
            <a:r>
              <a:rPr lang="en-US" sz="2199" spc="-54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Tests the live rendered UI using just the deployment URL. No source code modifications or SDKs required.</a:t>
            </a:r>
          </a:p>
          <a:p>
            <a:pPr marL="474978" lvl="1" indent="-237489" algn="l">
              <a:lnSpc>
                <a:spcPts val="2991"/>
              </a:lnSpc>
              <a:buFont typeface="Arial"/>
              <a:buChar char="•"/>
            </a:pPr>
            <a:r>
              <a:rPr lang="en-US" sz="2199" b="1" spc="-54">
                <a:solidFill>
                  <a:srgbClr val="403D39"/>
                </a:solidFill>
                <a:latin typeface="DM Sans Bold"/>
                <a:ea typeface="DM Sans Bold"/>
                <a:cs typeface="DM Sans Bold"/>
                <a:sym typeface="DM Sans Bold"/>
              </a:rPr>
              <a:t>Multimodal Vision-as-a-Judge: </a:t>
            </a:r>
            <a:r>
              <a:rPr lang="en-US" sz="2199" spc="-54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Captures real client-side screenshots to evaluate visual layout, formatting, and semantic accuracy simultaneously.</a:t>
            </a:r>
          </a:p>
          <a:p>
            <a:pPr marL="474978" lvl="1" indent="-237489" algn="l">
              <a:lnSpc>
                <a:spcPts val="2991"/>
              </a:lnSpc>
              <a:buFont typeface="Arial"/>
              <a:buChar char="•"/>
            </a:pPr>
            <a:r>
              <a:rPr lang="en-US" sz="2199" b="1" spc="-54">
                <a:solidFill>
                  <a:srgbClr val="403D39"/>
                </a:solidFill>
                <a:latin typeface="DM Sans Bold"/>
                <a:ea typeface="DM Sans Bold"/>
                <a:cs typeface="DM Sans Bold"/>
                <a:sym typeface="DM Sans Bold"/>
              </a:rPr>
              <a:t>Autonomous Test Generation: </a:t>
            </a:r>
            <a:r>
              <a:rPr lang="en-US" sz="2199" spc="-54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Instantly auto-generates adversarial and edge-case suites directly from raw agent specifications.</a:t>
            </a:r>
          </a:p>
          <a:p>
            <a:pPr algn="l">
              <a:lnSpc>
                <a:spcPts val="2991"/>
              </a:lnSpc>
            </a:pPr>
            <a:endParaRPr lang="en-US" sz="2199" spc="-54">
              <a:solidFill>
                <a:srgbClr val="403D3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726725" y="4307646"/>
            <a:ext cx="4697865" cy="305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56"/>
              </a:lnSpc>
            </a:pPr>
            <a:r>
              <a:rPr lang="en-US" sz="2507" b="1" spc="-100">
                <a:solidFill>
                  <a:srgbClr val="F8F7F0"/>
                </a:solidFill>
                <a:latin typeface="TT Hoves Bold"/>
                <a:ea typeface="TT Hoves Bold"/>
                <a:cs typeface="TT Hoves Bold"/>
                <a:sym typeface="TT Hoves Bold"/>
              </a:rPr>
              <a:t>The Enterprise Testing Gap</a:t>
            </a:r>
          </a:p>
        </p:txBody>
      </p:sp>
      <p:sp>
        <p:nvSpPr>
          <p:cNvPr id="22" name="AutoShape 22"/>
          <p:cNvSpPr/>
          <p:nvPr/>
        </p:nvSpPr>
        <p:spPr>
          <a:xfrm flipV="1">
            <a:off x="10347177" y="-6913393"/>
            <a:ext cx="0" cy="20954906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3" name="Group 23"/>
          <p:cNvGrpSpPr/>
          <p:nvPr/>
        </p:nvGrpSpPr>
        <p:grpSpPr>
          <a:xfrm>
            <a:off x="4686950" y="551833"/>
            <a:ext cx="8914100" cy="580379"/>
            <a:chOff x="0" y="0"/>
            <a:chExt cx="2347746" cy="15285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347746" cy="152857"/>
            </a:xfrm>
            <a:custGeom>
              <a:avLst/>
              <a:gdLst/>
              <a:ahLst/>
              <a:cxnLst/>
              <a:rect l="l" t="t" r="r" b="b"/>
              <a:pathLst>
                <a:path w="2347746" h="152857">
                  <a:moveTo>
                    <a:pt x="76429" y="0"/>
                  </a:moveTo>
                  <a:lnTo>
                    <a:pt x="2271318" y="0"/>
                  </a:lnTo>
                  <a:cubicBezTo>
                    <a:pt x="2291588" y="0"/>
                    <a:pt x="2311028" y="8052"/>
                    <a:pt x="2325361" y="22385"/>
                  </a:cubicBezTo>
                  <a:cubicBezTo>
                    <a:pt x="2339694" y="36719"/>
                    <a:pt x="2347746" y="56158"/>
                    <a:pt x="2347746" y="76429"/>
                  </a:cubicBezTo>
                  <a:lnTo>
                    <a:pt x="2347746" y="76429"/>
                  </a:lnTo>
                  <a:cubicBezTo>
                    <a:pt x="2347746" y="96699"/>
                    <a:pt x="2339694" y="116139"/>
                    <a:pt x="2325361" y="130472"/>
                  </a:cubicBezTo>
                  <a:cubicBezTo>
                    <a:pt x="2311028" y="144805"/>
                    <a:pt x="2291588" y="152857"/>
                    <a:pt x="2271318" y="152857"/>
                  </a:cubicBezTo>
                  <a:lnTo>
                    <a:pt x="76429" y="152857"/>
                  </a:lnTo>
                  <a:cubicBezTo>
                    <a:pt x="56158" y="152857"/>
                    <a:pt x="36719" y="144805"/>
                    <a:pt x="22385" y="130472"/>
                  </a:cubicBezTo>
                  <a:cubicBezTo>
                    <a:pt x="8052" y="116139"/>
                    <a:pt x="0" y="96699"/>
                    <a:pt x="0" y="76429"/>
                  </a:cubicBezTo>
                  <a:lnTo>
                    <a:pt x="0" y="76429"/>
                  </a:lnTo>
                  <a:cubicBezTo>
                    <a:pt x="0" y="56158"/>
                    <a:pt x="8052" y="36719"/>
                    <a:pt x="22385" y="22385"/>
                  </a:cubicBezTo>
                  <a:cubicBezTo>
                    <a:pt x="36719" y="8052"/>
                    <a:pt x="56158" y="0"/>
                    <a:pt x="76429" y="0"/>
                  </a:cubicBezTo>
                  <a:close/>
                </a:path>
              </a:pathLst>
            </a:custGeom>
            <a:solidFill>
              <a:srgbClr val="222B52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2347746" cy="1909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5831662" y="686844"/>
            <a:ext cx="155802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TechC</a:t>
            </a:r>
            <a:r>
              <a:rPr lang="en-US" sz="1600" u="none" strike="noStrike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on 2026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09836" y="686844"/>
            <a:ext cx="2106447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QE</a:t>
            </a:r>
            <a:r>
              <a:rPr lang="en-US" sz="1600" u="none" strike="noStrike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 Track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223848" y="686844"/>
            <a:ext cx="204535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Team 390-Ag</a:t>
            </a:r>
            <a:r>
              <a:rPr lang="en-US" sz="1600" u="none" strike="noStrike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entForge</a:t>
            </a:r>
          </a:p>
        </p:txBody>
      </p:sp>
      <p:sp>
        <p:nvSpPr>
          <p:cNvPr id="29" name="Freeform 29"/>
          <p:cNvSpPr/>
          <p:nvPr/>
        </p:nvSpPr>
        <p:spPr>
          <a:xfrm>
            <a:off x="-127267" y="-359779"/>
            <a:ext cx="3947442" cy="1823225"/>
          </a:xfrm>
          <a:custGeom>
            <a:avLst/>
            <a:gdLst/>
            <a:ahLst/>
            <a:cxnLst/>
            <a:rect l="l" t="t" r="r" b="b"/>
            <a:pathLst>
              <a:path w="3947442" h="1823225">
                <a:moveTo>
                  <a:pt x="0" y="0"/>
                </a:moveTo>
                <a:lnTo>
                  <a:pt x="3947442" y="0"/>
                </a:lnTo>
                <a:lnTo>
                  <a:pt x="3947442" y="1823225"/>
                </a:lnTo>
                <a:lnTo>
                  <a:pt x="0" y="18232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10920271" y="4307646"/>
            <a:ext cx="4697865" cy="305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56"/>
              </a:lnSpc>
            </a:pPr>
            <a:r>
              <a:rPr lang="en-US" sz="2507" b="1" spc="-100">
                <a:solidFill>
                  <a:srgbClr val="222B52"/>
                </a:solidFill>
                <a:latin typeface="TT Hoves Bold"/>
                <a:ea typeface="TT Hoves Bold"/>
                <a:cs typeface="TT Hoves Bold"/>
                <a:sym typeface="TT Hoves Bold"/>
              </a:rPr>
              <a:t>The AVaaS Differentiation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788436" y="1699485"/>
            <a:ext cx="6711128" cy="6207793"/>
          </a:xfrm>
          <a:custGeom>
            <a:avLst/>
            <a:gdLst/>
            <a:ahLst/>
            <a:cxnLst/>
            <a:rect l="l" t="t" r="r" b="b"/>
            <a:pathLst>
              <a:path w="6711128" h="6207793">
                <a:moveTo>
                  <a:pt x="0" y="0"/>
                </a:moveTo>
                <a:lnTo>
                  <a:pt x="6711128" y="0"/>
                </a:lnTo>
                <a:lnTo>
                  <a:pt x="6711128" y="6207793"/>
                </a:lnTo>
                <a:lnTo>
                  <a:pt x="0" y="62077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 flipV="1">
            <a:off x="10347177" y="-6913393"/>
            <a:ext cx="0" cy="20954906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 flipV="1">
            <a:off x="17788875" y="-6134713"/>
            <a:ext cx="0" cy="20954906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4686950" y="551833"/>
            <a:ext cx="8914100" cy="580379"/>
            <a:chOff x="0" y="0"/>
            <a:chExt cx="2347746" cy="1528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47746" cy="152857"/>
            </a:xfrm>
            <a:custGeom>
              <a:avLst/>
              <a:gdLst/>
              <a:ahLst/>
              <a:cxnLst/>
              <a:rect l="l" t="t" r="r" b="b"/>
              <a:pathLst>
                <a:path w="2347746" h="152857">
                  <a:moveTo>
                    <a:pt x="76429" y="0"/>
                  </a:moveTo>
                  <a:lnTo>
                    <a:pt x="2271318" y="0"/>
                  </a:lnTo>
                  <a:cubicBezTo>
                    <a:pt x="2291588" y="0"/>
                    <a:pt x="2311028" y="8052"/>
                    <a:pt x="2325361" y="22385"/>
                  </a:cubicBezTo>
                  <a:cubicBezTo>
                    <a:pt x="2339694" y="36719"/>
                    <a:pt x="2347746" y="56158"/>
                    <a:pt x="2347746" y="76429"/>
                  </a:cubicBezTo>
                  <a:lnTo>
                    <a:pt x="2347746" y="76429"/>
                  </a:lnTo>
                  <a:cubicBezTo>
                    <a:pt x="2347746" y="96699"/>
                    <a:pt x="2339694" y="116139"/>
                    <a:pt x="2325361" y="130472"/>
                  </a:cubicBezTo>
                  <a:cubicBezTo>
                    <a:pt x="2311028" y="144805"/>
                    <a:pt x="2291588" y="152857"/>
                    <a:pt x="2271318" y="152857"/>
                  </a:cubicBezTo>
                  <a:lnTo>
                    <a:pt x="76429" y="152857"/>
                  </a:lnTo>
                  <a:cubicBezTo>
                    <a:pt x="56158" y="152857"/>
                    <a:pt x="36719" y="144805"/>
                    <a:pt x="22385" y="130472"/>
                  </a:cubicBezTo>
                  <a:cubicBezTo>
                    <a:pt x="8052" y="116139"/>
                    <a:pt x="0" y="96699"/>
                    <a:pt x="0" y="76429"/>
                  </a:cubicBezTo>
                  <a:lnTo>
                    <a:pt x="0" y="76429"/>
                  </a:lnTo>
                  <a:cubicBezTo>
                    <a:pt x="0" y="56158"/>
                    <a:pt x="8052" y="36719"/>
                    <a:pt x="22385" y="22385"/>
                  </a:cubicBezTo>
                  <a:cubicBezTo>
                    <a:pt x="36719" y="8052"/>
                    <a:pt x="56158" y="0"/>
                    <a:pt x="76429" y="0"/>
                  </a:cubicBezTo>
                  <a:close/>
                </a:path>
              </a:pathLst>
            </a:custGeom>
            <a:solidFill>
              <a:srgbClr val="222B5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347746" cy="1909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-1618300" y="1699485"/>
            <a:ext cx="20954906" cy="0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-1618300" y="8111239"/>
            <a:ext cx="20954906" cy="0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-1799103" y="9186939"/>
            <a:ext cx="5316075" cy="1969184"/>
            <a:chOff x="0" y="0"/>
            <a:chExt cx="1400119" cy="5186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00119" cy="518633"/>
            </a:xfrm>
            <a:custGeom>
              <a:avLst/>
              <a:gdLst/>
              <a:ahLst/>
              <a:cxnLst/>
              <a:rect l="l" t="t" r="r" b="b"/>
              <a:pathLst>
                <a:path w="1400119" h="518633">
                  <a:moveTo>
                    <a:pt x="145632" y="0"/>
                  </a:moveTo>
                  <a:lnTo>
                    <a:pt x="1254486" y="0"/>
                  </a:lnTo>
                  <a:cubicBezTo>
                    <a:pt x="1334917" y="0"/>
                    <a:pt x="1400119" y="65202"/>
                    <a:pt x="1400119" y="145632"/>
                  </a:cubicBezTo>
                  <a:lnTo>
                    <a:pt x="1400119" y="373000"/>
                  </a:lnTo>
                  <a:cubicBezTo>
                    <a:pt x="1400119" y="411625"/>
                    <a:pt x="1384775" y="448667"/>
                    <a:pt x="1357464" y="475978"/>
                  </a:cubicBezTo>
                  <a:cubicBezTo>
                    <a:pt x="1330153" y="503289"/>
                    <a:pt x="1293110" y="518633"/>
                    <a:pt x="1254486" y="518633"/>
                  </a:cubicBezTo>
                  <a:lnTo>
                    <a:pt x="145632" y="518633"/>
                  </a:lnTo>
                  <a:cubicBezTo>
                    <a:pt x="107008" y="518633"/>
                    <a:pt x="69966" y="503289"/>
                    <a:pt x="42655" y="475978"/>
                  </a:cubicBezTo>
                  <a:cubicBezTo>
                    <a:pt x="15343" y="448667"/>
                    <a:pt x="0" y="411625"/>
                    <a:pt x="0" y="373000"/>
                  </a:cubicBezTo>
                  <a:lnTo>
                    <a:pt x="0" y="145632"/>
                  </a:lnTo>
                  <a:cubicBezTo>
                    <a:pt x="0" y="107008"/>
                    <a:pt x="15343" y="69966"/>
                    <a:pt x="42655" y="42655"/>
                  </a:cubicBezTo>
                  <a:cubicBezTo>
                    <a:pt x="69966" y="15343"/>
                    <a:pt x="107008" y="0"/>
                    <a:pt x="145632" y="0"/>
                  </a:cubicBezTo>
                  <a:close/>
                </a:path>
              </a:pathLst>
            </a:custGeom>
            <a:solidFill>
              <a:srgbClr val="222B52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400119" cy="5567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4806286" y="9758439"/>
            <a:ext cx="17800010" cy="2065376"/>
            <a:chOff x="0" y="0"/>
            <a:chExt cx="4688069" cy="54396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688068" cy="543967"/>
            </a:xfrm>
            <a:custGeom>
              <a:avLst/>
              <a:gdLst/>
              <a:ahLst/>
              <a:cxnLst/>
              <a:rect l="l" t="t" r="r" b="b"/>
              <a:pathLst>
                <a:path w="4688068" h="543967">
                  <a:moveTo>
                    <a:pt x="43494" y="0"/>
                  </a:moveTo>
                  <a:lnTo>
                    <a:pt x="4644575" y="0"/>
                  </a:lnTo>
                  <a:cubicBezTo>
                    <a:pt x="4668596" y="0"/>
                    <a:pt x="4688068" y="19473"/>
                    <a:pt x="4688068" y="43494"/>
                  </a:cubicBezTo>
                  <a:lnTo>
                    <a:pt x="4688068" y="500473"/>
                  </a:lnTo>
                  <a:cubicBezTo>
                    <a:pt x="4688068" y="524494"/>
                    <a:pt x="4668596" y="543967"/>
                    <a:pt x="4644575" y="543967"/>
                  </a:cubicBezTo>
                  <a:lnTo>
                    <a:pt x="43494" y="543967"/>
                  </a:lnTo>
                  <a:cubicBezTo>
                    <a:pt x="19473" y="543967"/>
                    <a:pt x="0" y="524494"/>
                    <a:pt x="0" y="500473"/>
                  </a:cubicBezTo>
                  <a:lnTo>
                    <a:pt x="0" y="43494"/>
                  </a:lnTo>
                  <a:cubicBezTo>
                    <a:pt x="0" y="19473"/>
                    <a:pt x="19473" y="0"/>
                    <a:pt x="43494" y="0"/>
                  </a:cubicBezTo>
                  <a:close/>
                </a:path>
              </a:pathLst>
            </a:custGeom>
            <a:solidFill>
              <a:srgbClr val="222B52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688069" cy="5820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64021" y="1937610"/>
            <a:ext cx="4322929" cy="1156171"/>
            <a:chOff x="0" y="0"/>
            <a:chExt cx="1138549" cy="30450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38549" cy="304506"/>
            </a:xfrm>
            <a:custGeom>
              <a:avLst/>
              <a:gdLst/>
              <a:ahLst/>
              <a:cxnLst/>
              <a:rect l="l" t="t" r="r" b="b"/>
              <a:pathLst>
                <a:path w="1138549" h="304506">
                  <a:moveTo>
                    <a:pt x="57309" y="0"/>
                  </a:moveTo>
                  <a:lnTo>
                    <a:pt x="1081240" y="0"/>
                  </a:lnTo>
                  <a:cubicBezTo>
                    <a:pt x="1112891" y="0"/>
                    <a:pt x="1138549" y="25658"/>
                    <a:pt x="1138549" y="57309"/>
                  </a:cubicBezTo>
                  <a:lnTo>
                    <a:pt x="1138549" y="247197"/>
                  </a:lnTo>
                  <a:cubicBezTo>
                    <a:pt x="1138549" y="262397"/>
                    <a:pt x="1132511" y="276973"/>
                    <a:pt x="1121764" y="287721"/>
                  </a:cubicBezTo>
                  <a:cubicBezTo>
                    <a:pt x="1111016" y="298468"/>
                    <a:pt x="1096440" y="304506"/>
                    <a:pt x="1081240" y="304506"/>
                  </a:cubicBezTo>
                  <a:lnTo>
                    <a:pt x="57309" y="304506"/>
                  </a:lnTo>
                  <a:cubicBezTo>
                    <a:pt x="25658" y="304506"/>
                    <a:pt x="0" y="278848"/>
                    <a:pt x="0" y="247197"/>
                  </a:cubicBezTo>
                  <a:lnTo>
                    <a:pt x="0" y="57309"/>
                  </a:lnTo>
                  <a:cubicBezTo>
                    <a:pt x="0" y="42109"/>
                    <a:pt x="6038" y="27533"/>
                    <a:pt x="16785" y="16785"/>
                  </a:cubicBezTo>
                  <a:cubicBezTo>
                    <a:pt x="27533" y="6038"/>
                    <a:pt x="42109" y="0"/>
                    <a:pt x="57309" y="0"/>
                  </a:cubicBezTo>
                  <a:close/>
                </a:path>
              </a:pathLst>
            </a:custGeom>
            <a:solidFill>
              <a:srgbClr val="C6CDD6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138549" cy="342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850492" y="3885549"/>
            <a:ext cx="3960480" cy="4565025"/>
            <a:chOff x="0" y="0"/>
            <a:chExt cx="1043089" cy="120231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43089" cy="1202311"/>
            </a:xfrm>
            <a:custGeom>
              <a:avLst/>
              <a:gdLst/>
              <a:ahLst/>
              <a:cxnLst/>
              <a:rect l="l" t="t" r="r" b="b"/>
              <a:pathLst>
                <a:path w="1043089" h="1202311">
                  <a:moveTo>
                    <a:pt x="62553" y="0"/>
                  </a:moveTo>
                  <a:lnTo>
                    <a:pt x="980536" y="0"/>
                  </a:lnTo>
                  <a:cubicBezTo>
                    <a:pt x="997126" y="0"/>
                    <a:pt x="1013037" y="6590"/>
                    <a:pt x="1024768" y="18321"/>
                  </a:cubicBezTo>
                  <a:cubicBezTo>
                    <a:pt x="1036499" y="30053"/>
                    <a:pt x="1043089" y="45963"/>
                    <a:pt x="1043089" y="62553"/>
                  </a:cubicBezTo>
                  <a:lnTo>
                    <a:pt x="1043089" y="1139758"/>
                  </a:lnTo>
                  <a:cubicBezTo>
                    <a:pt x="1043089" y="1156348"/>
                    <a:pt x="1036499" y="1172259"/>
                    <a:pt x="1024768" y="1183990"/>
                  </a:cubicBezTo>
                  <a:cubicBezTo>
                    <a:pt x="1013037" y="1195721"/>
                    <a:pt x="997126" y="1202311"/>
                    <a:pt x="980536" y="1202311"/>
                  </a:cubicBezTo>
                  <a:lnTo>
                    <a:pt x="62553" y="1202311"/>
                  </a:lnTo>
                  <a:cubicBezTo>
                    <a:pt x="45963" y="1202311"/>
                    <a:pt x="30053" y="1195721"/>
                    <a:pt x="18321" y="1183990"/>
                  </a:cubicBezTo>
                  <a:cubicBezTo>
                    <a:pt x="6590" y="1172259"/>
                    <a:pt x="0" y="1156348"/>
                    <a:pt x="0" y="1139758"/>
                  </a:cubicBezTo>
                  <a:lnTo>
                    <a:pt x="0" y="62553"/>
                  </a:lnTo>
                  <a:cubicBezTo>
                    <a:pt x="0" y="45963"/>
                    <a:pt x="6590" y="30053"/>
                    <a:pt x="18321" y="18321"/>
                  </a:cubicBezTo>
                  <a:cubicBezTo>
                    <a:pt x="30053" y="6590"/>
                    <a:pt x="45963" y="0"/>
                    <a:pt x="62553" y="0"/>
                  </a:cubicBezTo>
                  <a:close/>
                </a:path>
              </a:pathLst>
            </a:custGeom>
            <a:solidFill>
              <a:srgbClr val="C6CDD6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043089" cy="1240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-118735" y="-359779"/>
            <a:ext cx="3947442" cy="1823225"/>
          </a:xfrm>
          <a:custGeom>
            <a:avLst/>
            <a:gdLst/>
            <a:ahLst/>
            <a:cxnLst/>
            <a:rect l="l" t="t" r="r" b="b"/>
            <a:pathLst>
              <a:path w="3947442" h="1823225">
                <a:moveTo>
                  <a:pt x="0" y="0"/>
                </a:moveTo>
                <a:lnTo>
                  <a:pt x="3947442" y="0"/>
                </a:lnTo>
                <a:lnTo>
                  <a:pt x="3947442" y="1823225"/>
                </a:lnTo>
                <a:lnTo>
                  <a:pt x="0" y="18232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389108" y="3870075"/>
            <a:ext cx="3556389" cy="4754150"/>
            <a:chOff x="0" y="0"/>
            <a:chExt cx="936662" cy="125212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36662" cy="1252122"/>
            </a:xfrm>
            <a:custGeom>
              <a:avLst/>
              <a:gdLst/>
              <a:ahLst/>
              <a:cxnLst/>
              <a:rect l="l" t="t" r="r" b="b"/>
              <a:pathLst>
                <a:path w="936662" h="1252122">
                  <a:moveTo>
                    <a:pt x="69661" y="0"/>
                  </a:moveTo>
                  <a:lnTo>
                    <a:pt x="867001" y="0"/>
                  </a:lnTo>
                  <a:cubicBezTo>
                    <a:pt x="885476" y="0"/>
                    <a:pt x="903195" y="7339"/>
                    <a:pt x="916259" y="20403"/>
                  </a:cubicBezTo>
                  <a:cubicBezTo>
                    <a:pt x="929323" y="33467"/>
                    <a:pt x="936662" y="51186"/>
                    <a:pt x="936662" y="69661"/>
                  </a:cubicBezTo>
                  <a:lnTo>
                    <a:pt x="936662" y="1182461"/>
                  </a:lnTo>
                  <a:cubicBezTo>
                    <a:pt x="936662" y="1200936"/>
                    <a:pt x="929323" y="1218655"/>
                    <a:pt x="916259" y="1231719"/>
                  </a:cubicBezTo>
                  <a:cubicBezTo>
                    <a:pt x="903195" y="1244783"/>
                    <a:pt x="885476" y="1252122"/>
                    <a:pt x="867001" y="1252122"/>
                  </a:cubicBezTo>
                  <a:lnTo>
                    <a:pt x="69661" y="1252122"/>
                  </a:lnTo>
                  <a:cubicBezTo>
                    <a:pt x="51186" y="1252122"/>
                    <a:pt x="33467" y="1244783"/>
                    <a:pt x="20403" y="1231719"/>
                  </a:cubicBezTo>
                  <a:cubicBezTo>
                    <a:pt x="7339" y="1218655"/>
                    <a:pt x="0" y="1200936"/>
                    <a:pt x="0" y="1182461"/>
                  </a:cubicBezTo>
                  <a:lnTo>
                    <a:pt x="0" y="69661"/>
                  </a:lnTo>
                  <a:cubicBezTo>
                    <a:pt x="0" y="51186"/>
                    <a:pt x="7339" y="33467"/>
                    <a:pt x="20403" y="20403"/>
                  </a:cubicBezTo>
                  <a:cubicBezTo>
                    <a:pt x="33467" y="7339"/>
                    <a:pt x="51186" y="0"/>
                    <a:pt x="69661" y="0"/>
                  </a:cubicBezTo>
                  <a:close/>
                </a:path>
              </a:pathLst>
            </a:custGeom>
            <a:solidFill>
              <a:srgbClr val="222B52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936662" cy="12902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558601" y="3917553"/>
            <a:ext cx="4173604" cy="4706672"/>
            <a:chOff x="0" y="0"/>
            <a:chExt cx="1099221" cy="123961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99221" cy="1239617"/>
            </a:xfrm>
            <a:custGeom>
              <a:avLst/>
              <a:gdLst/>
              <a:ahLst/>
              <a:cxnLst/>
              <a:rect l="l" t="t" r="r" b="b"/>
              <a:pathLst>
                <a:path w="1099221" h="1239617">
                  <a:moveTo>
                    <a:pt x="59359" y="0"/>
                  </a:moveTo>
                  <a:lnTo>
                    <a:pt x="1039862" y="0"/>
                  </a:lnTo>
                  <a:cubicBezTo>
                    <a:pt x="1072645" y="0"/>
                    <a:pt x="1099221" y="26576"/>
                    <a:pt x="1099221" y="59359"/>
                  </a:cubicBezTo>
                  <a:lnTo>
                    <a:pt x="1099221" y="1180258"/>
                  </a:lnTo>
                  <a:cubicBezTo>
                    <a:pt x="1099221" y="1213041"/>
                    <a:pt x="1072645" y="1239617"/>
                    <a:pt x="1039862" y="1239617"/>
                  </a:cubicBezTo>
                  <a:lnTo>
                    <a:pt x="59359" y="1239617"/>
                  </a:lnTo>
                  <a:cubicBezTo>
                    <a:pt x="26576" y="1239617"/>
                    <a:pt x="0" y="1213041"/>
                    <a:pt x="0" y="1180258"/>
                  </a:cubicBezTo>
                  <a:lnTo>
                    <a:pt x="0" y="59359"/>
                  </a:lnTo>
                  <a:cubicBezTo>
                    <a:pt x="0" y="26576"/>
                    <a:pt x="26576" y="0"/>
                    <a:pt x="59359" y="0"/>
                  </a:cubicBezTo>
                  <a:close/>
                </a:path>
              </a:pathLst>
            </a:custGeom>
            <a:solidFill>
              <a:srgbClr val="C6CDD6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1099221" cy="12777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433907" y="3917553"/>
            <a:ext cx="3634262" cy="4706672"/>
            <a:chOff x="0" y="0"/>
            <a:chExt cx="957172" cy="1239617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57172" cy="1239617"/>
            </a:xfrm>
            <a:custGeom>
              <a:avLst/>
              <a:gdLst/>
              <a:ahLst/>
              <a:cxnLst/>
              <a:rect l="l" t="t" r="r" b="b"/>
              <a:pathLst>
                <a:path w="957172" h="1239617">
                  <a:moveTo>
                    <a:pt x="68168" y="0"/>
                  </a:moveTo>
                  <a:lnTo>
                    <a:pt x="889004" y="0"/>
                  </a:lnTo>
                  <a:cubicBezTo>
                    <a:pt x="907083" y="0"/>
                    <a:pt x="924422" y="7182"/>
                    <a:pt x="937206" y="19966"/>
                  </a:cubicBezTo>
                  <a:cubicBezTo>
                    <a:pt x="949990" y="32750"/>
                    <a:pt x="957172" y="50089"/>
                    <a:pt x="957172" y="68168"/>
                  </a:cubicBezTo>
                  <a:lnTo>
                    <a:pt x="957172" y="1171449"/>
                  </a:lnTo>
                  <a:cubicBezTo>
                    <a:pt x="957172" y="1209097"/>
                    <a:pt x="926652" y="1239617"/>
                    <a:pt x="889004" y="1239617"/>
                  </a:cubicBezTo>
                  <a:lnTo>
                    <a:pt x="68168" y="1239617"/>
                  </a:lnTo>
                  <a:cubicBezTo>
                    <a:pt x="30520" y="1239617"/>
                    <a:pt x="0" y="1209097"/>
                    <a:pt x="0" y="1171449"/>
                  </a:cubicBezTo>
                  <a:lnTo>
                    <a:pt x="0" y="68168"/>
                  </a:lnTo>
                  <a:cubicBezTo>
                    <a:pt x="0" y="30520"/>
                    <a:pt x="30520" y="0"/>
                    <a:pt x="68168" y="0"/>
                  </a:cubicBezTo>
                  <a:close/>
                </a:path>
              </a:pathLst>
            </a:custGeom>
            <a:solidFill>
              <a:srgbClr val="222B52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957172" cy="12777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702856" y="3189246"/>
            <a:ext cx="566529" cy="566529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3A4469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203200" y="-38100"/>
              <a:ext cx="406400" cy="749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3945497" y="5591167"/>
            <a:ext cx="552805" cy="501198"/>
            <a:chOff x="0" y="0"/>
            <a:chExt cx="632120" cy="573109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32120" cy="573109"/>
            </a:xfrm>
            <a:custGeom>
              <a:avLst/>
              <a:gdLst/>
              <a:ahLst/>
              <a:cxnLst/>
              <a:rect l="l" t="t" r="r" b="b"/>
              <a:pathLst>
                <a:path w="632120" h="573109">
                  <a:moveTo>
                    <a:pt x="632120" y="286554"/>
                  </a:moveTo>
                  <a:lnTo>
                    <a:pt x="225720" y="0"/>
                  </a:lnTo>
                  <a:lnTo>
                    <a:pt x="225720" y="203200"/>
                  </a:lnTo>
                  <a:lnTo>
                    <a:pt x="0" y="203200"/>
                  </a:lnTo>
                  <a:lnTo>
                    <a:pt x="0" y="369909"/>
                  </a:lnTo>
                  <a:lnTo>
                    <a:pt x="225720" y="369909"/>
                  </a:lnTo>
                  <a:lnTo>
                    <a:pt x="225720" y="573109"/>
                  </a:lnTo>
                  <a:lnTo>
                    <a:pt x="632120" y="286554"/>
                  </a:lnTo>
                  <a:close/>
                </a:path>
              </a:pathLst>
            </a:custGeom>
            <a:solidFill>
              <a:srgbClr val="3A4469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165100"/>
              <a:ext cx="530520" cy="2048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771228" y="5577091"/>
            <a:ext cx="583856" cy="529351"/>
            <a:chOff x="0" y="0"/>
            <a:chExt cx="632120" cy="573109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32120" cy="573109"/>
            </a:xfrm>
            <a:custGeom>
              <a:avLst/>
              <a:gdLst/>
              <a:ahLst/>
              <a:cxnLst/>
              <a:rect l="l" t="t" r="r" b="b"/>
              <a:pathLst>
                <a:path w="632120" h="573109">
                  <a:moveTo>
                    <a:pt x="632120" y="286554"/>
                  </a:moveTo>
                  <a:lnTo>
                    <a:pt x="225720" y="0"/>
                  </a:lnTo>
                  <a:lnTo>
                    <a:pt x="225720" y="203200"/>
                  </a:lnTo>
                  <a:lnTo>
                    <a:pt x="0" y="203200"/>
                  </a:lnTo>
                  <a:lnTo>
                    <a:pt x="0" y="369909"/>
                  </a:lnTo>
                  <a:lnTo>
                    <a:pt x="225720" y="369909"/>
                  </a:lnTo>
                  <a:lnTo>
                    <a:pt x="225720" y="573109"/>
                  </a:lnTo>
                  <a:lnTo>
                    <a:pt x="632120" y="286554"/>
                  </a:lnTo>
                  <a:close/>
                </a:path>
              </a:pathLst>
            </a:custGeom>
            <a:solidFill>
              <a:srgbClr val="3A4469"/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0" y="165100"/>
              <a:ext cx="530520" cy="2048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3133286" y="5549572"/>
            <a:ext cx="583856" cy="529351"/>
            <a:chOff x="0" y="0"/>
            <a:chExt cx="632120" cy="57310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32120" cy="573109"/>
            </a:xfrm>
            <a:custGeom>
              <a:avLst/>
              <a:gdLst/>
              <a:ahLst/>
              <a:cxnLst/>
              <a:rect l="l" t="t" r="r" b="b"/>
              <a:pathLst>
                <a:path w="632120" h="573109">
                  <a:moveTo>
                    <a:pt x="632120" y="286554"/>
                  </a:moveTo>
                  <a:lnTo>
                    <a:pt x="225720" y="0"/>
                  </a:lnTo>
                  <a:lnTo>
                    <a:pt x="225720" y="203200"/>
                  </a:lnTo>
                  <a:lnTo>
                    <a:pt x="0" y="203200"/>
                  </a:lnTo>
                  <a:lnTo>
                    <a:pt x="0" y="369909"/>
                  </a:lnTo>
                  <a:lnTo>
                    <a:pt x="225720" y="369909"/>
                  </a:lnTo>
                  <a:lnTo>
                    <a:pt x="225720" y="573109"/>
                  </a:lnTo>
                  <a:lnTo>
                    <a:pt x="632120" y="286554"/>
                  </a:lnTo>
                  <a:close/>
                </a:path>
              </a:pathLst>
            </a:custGeom>
            <a:solidFill>
              <a:srgbClr val="3A4469"/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0" y="165100"/>
              <a:ext cx="530520" cy="2048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4355317" y="4364416"/>
            <a:ext cx="3507348" cy="52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79"/>
              </a:lnSpc>
            </a:pPr>
            <a:r>
              <a:rPr lang="en-US" sz="2199" b="1" spc="-87">
                <a:solidFill>
                  <a:srgbClr val="222B52"/>
                </a:solidFill>
                <a:latin typeface="TT Hoves Bold"/>
                <a:ea typeface="TT Hoves Bold"/>
                <a:cs typeface="TT Hoves Bold"/>
                <a:sym typeface="TT Hoves Bold"/>
              </a:rPr>
              <a:t>Phase 4: Automated Release Gates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788436" y="686844"/>
            <a:ext cx="155802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TechC</a:t>
            </a:r>
            <a:r>
              <a:rPr lang="en-US" sz="1600" u="none" strike="noStrike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on 2026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008706" y="686844"/>
            <a:ext cx="1760394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QE Track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442445" y="686130"/>
            <a:ext cx="229968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Team 390-AgentForge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152594" y="1793469"/>
            <a:ext cx="9071667" cy="1272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60"/>
              </a:lnSpc>
            </a:pPr>
            <a:r>
              <a:rPr lang="en-US" sz="5400" b="1" spc="-216">
                <a:solidFill>
                  <a:srgbClr val="222223"/>
                </a:solidFill>
                <a:latin typeface="TT Hoves Bold"/>
                <a:ea typeface="TT Hoves Bold"/>
                <a:cs typeface="TT Hoves Bold"/>
                <a:sym typeface="TT Hoves Bold"/>
              </a:rPr>
              <a:t>End-to-End Autonomous Validation Pipeline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68105" y="2594880"/>
            <a:ext cx="6201079" cy="340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9"/>
              </a:lnSpc>
            </a:pPr>
            <a:r>
              <a:rPr lang="en-US" sz="1999" spc="-49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Web Dashboard  (URL)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12440" y="2171213"/>
            <a:ext cx="5175996" cy="305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56"/>
              </a:lnSpc>
            </a:pPr>
            <a:r>
              <a:rPr lang="en-US" sz="2507" b="1" spc="-100">
                <a:solidFill>
                  <a:srgbClr val="222B52"/>
                </a:solidFill>
                <a:latin typeface="TT Hoves Bold"/>
                <a:ea typeface="TT Hoves Bold"/>
                <a:cs typeface="TT Hoves Bold"/>
                <a:sym typeface="TT Hoves Bold"/>
              </a:rPr>
              <a:t>User/QA Engineer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68105" y="4142227"/>
            <a:ext cx="3200819" cy="6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F8F7F0"/>
                </a:solidFill>
                <a:latin typeface="DM Sans Bold"/>
                <a:ea typeface="DM Sans Bold"/>
                <a:cs typeface="DM Sans Bold"/>
                <a:sym typeface="DM Sans Bold"/>
              </a:rPr>
              <a:t>Phase 1: Autonomous Test Intelligence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719627" y="4206753"/>
            <a:ext cx="4012578" cy="772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222B52"/>
                </a:solidFill>
                <a:latin typeface="DM Sans Bold"/>
                <a:ea typeface="DM Sans Bold"/>
                <a:cs typeface="DM Sans Bold"/>
                <a:sym typeface="DM Sans Bold"/>
              </a:rPr>
              <a:t>Phase 2: Resilient Execution Engine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56404" y="5243822"/>
            <a:ext cx="2821797" cy="165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Instantly auto-generates normal, edge-case, and adversarial (jailbreak) suites directly from agent specifications.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883299" y="5727306"/>
            <a:ext cx="3345004" cy="1323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Headless Playwright orchestration with built-in circuit breakers and SPA hydration handling.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769100" y="4186615"/>
            <a:ext cx="3065657" cy="772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Phase 3: Dual-Tier  Evaluation: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9726560" y="5511472"/>
            <a:ext cx="3239498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Tier 1: Deterministic logic and latency constraints.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11159385" y="6330226"/>
            <a:ext cx="235352" cy="352568"/>
            <a:chOff x="12700" y="0"/>
            <a:chExt cx="6502400" cy="9740900"/>
          </a:xfrm>
        </p:grpSpPr>
        <p:sp>
          <p:nvSpPr>
            <p:cNvPr id="58" name="Freeform 58"/>
            <p:cNvSpPr/>
            <p:nvPr/>
          </p:nvSpPr>
          <p:spPr>
            <a:xfrm>
              <a:off x="-3152" y="0"/>
              <a:ext cx="6480152" cy="9746956"/>
            </a:xfrm>
            <a:custGeom>
              <a:avLst/>
              <a:gdLst/>
              <a:ahLst/>
              <a:cxnLst/>
              <a:rect l="l" t="t" r="r" b="b"/>
              <a:pathLst>
                <a:path w="6480152" h="9746956">
                  <a:moveTo>
                    <a:pt x="1964596" y="22578"/>
                  </a:moveTo>
                  <a:lnTo>
                    <a:pt x="1904389" y="45156"/>
                  </a:lnTo>
                  <a:cubicBezTo>
                    <a:pt x="1827973" y="73811"/>
                    <a:pt x="1761153" y="131389"/>
                    <a:pt x="1721519" y="202730"/>
                  </a:cubicBezTo>
                  <a:lnTo>
                    <a:pt x="1677487" y="281987"/>
                  </a:lnTo>
                  <a:cubicBezTo>
                    <a:pt x="1651884" y="328073"/>
                    <a:pt x="1633456" y="399191"/>
                    <a:pt x="1633456" y="451912"/>
                  </a:cubicBezTo>
                  <a:lnTo>
                    <a:pt x="1633456" y="5652390"/>
                  </a:lnTo>
                  <a:cubicBezTo>
                    <a:pt x="1633456" y="5690636"/>
                    <a:pt x="1620456" y="5745702"/>
                    <a:pt x="1603352" y="5779911"/>
                  </a:cubicBezTo>
                  <a:lnTo>
                    <a:pt x="1588300" y="5810015"/>
                  </a:lnTo>
                  <a:cubicBezTo>
                    <a:pt x="1579640" y="5827335"/>
                    <a:pt x="1561619" y="5848426"/>
                    <a:pt x="1545860" y="5859681"/>
                  </a:cubicBezTo>
                  <a:lnTo>
                    <a:pt x="1454192" y="5925160"/>
                  </a:lnTo>
                  <a:cubicBezTo>
                    <a:pt x="1398609" y="5964861"/>
                    <a:pt x="1318191" y="5991804"/>
                    <a:pt x="1249908" y="5993601"/>
                  </a:cubicBezTo>
                  <a:lnTo>
                    <a:pt x="306318" y="6018432"/>
                  </a:lnTo>
                  <a:cubicBezTo>
                    <a:pt x="255119" y="6019780"/>
                    <a:pt x="187241" y="6039545"/>
                    <a:pt x="143322" y="6065896"/>
                  </a:cubicBezTo>
                  <a:lnTo>
                    <a:pt x="105693" y="6088474"/>
                  </a:lnTo>
                  <a:cubicBezTo>
                    <a:pt x="81780" y="6102821"/>
                    <a:pt x="63005" y="6126227"/>
                    <a:pt x="54186" y="6152683"/>
                  </a:cubicBezTo>
                  <a:lnTo>
                    <a:pt x="15969" y="6267335"/>
                  </a:lnTo>
                  <a:cubicBezTo>
                    <a:pt x="-8590" y="6341013"/>
                    <a:pt x="-4708" y="6421450"/>
                    <a:pt x="26835" y="6492422"/>
                  </a:cubicBezTo>
                  <a:lnTo>
                    <a:pt x="62500" y="6572670"/>
                  </a:lnTo>
                  <a:cubicBezTo>
                    <a:pt x="81407" y="6615209"/>
                    <a:pt x="126757" y="6682677"/>
                    <a:pt x="159009" y="6716244"/>
                  </a:cubicBezTo>
                  <a:lnTo>
                    <a:pt x="2933145" y="9603611"/>
                  </a:lnTo>
                  <a:cubicBezTo>
                    <a:pt x="3006505" y="9679966"/>
                    <a:pt x="3108449" y="9728962"/>
                    <a:pt x="3213900" y="9738548"/>
                  </a:cubicBezTo>
                  <a:lnTo>
                    <a:pt x="3296685" y="9746074"/>
                  </a:lnTo>
                  <a:cubicBezTo>
                    <a:pt x="3349337" y="9750861"/>
                    <a:pt x="3404092" y="9736013"/>
                    <a:pt x="3447114" y="9705284"/>
                  </a:cubicBezTo>
                  <a:lnTo>
                    <a:pt x="3518656" y="9654183"/>
                  </a:lnTo>
                  <a:cubicBezTo>
                    <a:pt x="3552582" y="9629949"/>
                    <a:pt x="3622016" y="9569552"/>
                    <a:pt x="3650715" y="9539309"/>
                  </a:cubicBezTo>
                  <a:lnTo>
                    <a:pt x="6329426" y="6716582"/>
                  </a:lnTo>
                  <a:cubicBezTo>
                    <a:pt x="6358693" y="6685741"/>
                    <a:pt x="6413121" y="6614116"/>
                    <a:pt x="6434996" y="6577659"/>
                  </a:cubicBezTo>
                  <a:lnTo>
                    <a:pt x="6457574" y="6540030"/>
                  </a:lnTo>
                  <a:cubicBezTo>
                    <a:pt x="6470924" y="6517780"/>
                    <a:pt x="6480152" y="6484464"/>
                    <a:pt x="6480152" y="6458516"/>
                  </a:cubicBezTo>
                  <a:lnTo>
                    <a:pt x="6480152" y="6276622"/>
                  </a:lnTo>
                  <a:cubicBezTo>
                    <a:pt x="6480152" y="6230002"/>
                    <a:pt x="6462969" y="6178452"/>
                    <a:pt x="6434996" y="6141156"/>
                  </a:cubicBezTo>
                  <a:lnTo>
                    <a:pt x="6412419" y="6111052"/>
                  </a:lnTo>
                  <a:cubicBezTo>
                    <a:pt x="6398477" y="6092463"/>
                    <a:pt x="6376054" y="6076813"/>
                    <a:pt x="6353798" y="6070135"/>
                  </a:cubicBezTo>
                  <a:lnTo>
                    <a:pt x="6221302" y="6030386"/>
                  </a:lnTo>
                  <a:cubicBezTo>
                    <a:pt x="6133441" y="6004028"/>
                    <a:pt x="6042202" y="5990637"/>
                    <a:pt x="5950473" y="5990637"/>
                  </a:cubicBezTo>
                  <a:lnTo>
                    <a:pt x="5169368" y="5990637"/>
                  </a:lnTo>
                  <a:cubicBezTo>
                    <a:pt x="5140654" y="5990637"/>
                    <a:pt x="5112479" y="5982833"/>
                    <a:pt x="5087856" y="5968059"/>
                  </a:cubicBezTo>
                  <a:lnTo>
                    <a:pt x="5050226" y="5945481"/>
                  </a:lnTo>
                  <a:cubicBezTo>
                    <a:pt x="5007969" y="5920127"/>
                    <a:pt x="4953618" y="5868303"/>
                    <a:pt x="4926283" y="5827300"/>
                  </a:cubicBezTo>
                  <a:lnTo>
                    <a:pt x="4890417" y="5773501"/>
                  </a:lnTo>
                  <a:cubicBezTo>
                    <a:pt x="4868729" y="5740969"/>
                    <a:pt x="4854552" y="5694145"/>
                    <a:pt x="4854552" y="5655047"/>
                  </a:cubicBezTo>
                  <a:lnTo>
                    <a:pt x="4854552" y="432111"/>
                  </a:lnTo>
                  <a:cubicBezTo>
                    <a:pt x="4854552" y="374741"/>
                    <a:pt x="4835054" y="292143"/>
                    <a:pt x="4809396" y="240830"/>
                  </a:cubicBezTo>
                  <a:lnTo>
                    <a:pt x="4786819" y="195674"/>
                  </a:lnTo>
                  <a:cubicBezTo>
                    <a:pt x="4773415" y="168868"/>
                    <a:pt x="4746843" y="139645"/>
                    <a:pt x="4721430" y="123761"/>
                  </a:cubicBezTo>
                  <a:lnTo>
                    <a:pt x="4622420" y="61881"/>
                  </a:lnTo>
                  <a:cubicBezTo>
                    <a:pt x="4557718" y="21442"/>
                    <a:pt x="4482954" y="0"/>
                    <a:pt x="4406655" y="0"/>
                  </a:cubicBezTo>
                  <a:lnTo>
                    <a:pt x="2089105" y="0"/>
                  </a:lnTo>
                  <a:cubicBezTo>
                    <a:pt x="2054766" y="0"/>
                    <a:pt x="1996749" y="10521"/>
                    <a:pt x="1964596" y="22578"/>
                  </a:cubicBezTo>
                  <a:lnTo>
                    <a:pt x="3152" y="0"/>
                  </a:lnTo>
                  <a:cubicBezTo>
                    <a:pt x="3152" y="0"/>
                    <a:pt x="1964596" y="22578"/>
                    <a:pt x="1964596" y="22578"/>
                  </a:cubicBezTo>
                  <a:close/>
                </a:path>
              </a:pathLst>
            </a:custGeom>
            <a:solidFill>
              <a:srgbClr val="3A4469"/>
            </a:solidFill>
            <a:ln cap="sq">
              <a:noFill/>
              <a:prstDash val="solid"/>
              <a:miter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2700" y="76200"/>
              <a:ext cx="6502400" cy="966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56"/>
                </a:lnSpc>
              </a:pPr>
              <a:endParaRPr/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9791139" y="6806859"/>
            <a:ext cx="3207196" cy="989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Tier 2: LLM-as-a-Judge (Safety, hallucination detection, business rules).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4355317" y="5601906"/>
            <a:ext cx="2820412" cy="165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Calculates a standardized 0-100 Confidence Score to enforce strict Pass/Fail deployment thresholds.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13459468" y="8749278"/>
            <a:ext cx="4322929" cy="1209827"/>
            <a:chOff x="0" y="0"/>
            <a:chExt cx="1138549" cy="318638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138549" cy="318638"/>
            </a:xfrm>
            <a:custGeom>
              <a:avLst/>
              <a:gdLst/>
              <a:ahLst/>
              <a:cxnLst/>
              <a:rect l="l" t="t" r="r" b="b"/>
              <a:pathLst>
                <a:path w="1138549" h="318638">
                  <a:moveTo>
                    <a:pt x="57309" y="0"/>
                  </a:moveTo>
                  <a:lnTo>
                    <a:pt x="1081240" y="0"/>
                  </a:lnTo>
                  <a:cubicBezTo>
                    <a:pt x="1112891" y="0"/>
                    <a:pt x="1138549" y="25658"/>
                    <a:pt x="1138549" y="57309"/>
                  </a:cubicBezTo>
                  <a:lnTo>
                    <a:pt x="1138549" y="261329"/>
                  </a:lnTo>
                  <a:cubicBezTo>
                    <a:pt x="1138549" y="276528"/>
                    <a:pt x="1132511" y="291105"/>
                    <a:pt x="1121764" y="301852"/>
                  </a:cubicBezTo>
                  <a:cubicBezTo>
                    <a:pt x="1111016" y="312600"/>
                    <a:pt x="1096440" y="318638"/>
                    <a:pt x="1081240" y="318638"/>
                  </a:cubicBezTo>
                  <a:lnTo>
                    <a:pt x="57309" y="318638"/>
                  </a:lnTo>
                  <a:cubicBezTo>
                    <a:pt x="25658" y="318638"/>
                    <a:pt x="0" y="292980"/>
                    <a:pt x="0" y="261329"/>
                  </a:cubicBezTo>
                  <a:lnTo>
                    <a:pt x="0" y="57309"/>
                  </a:lnTo>
                  <a:cubicBezTo>
                    <a:pt x="0" y="42109"/>
                    <a:pt x="6038" y="27533"/>
                    <a:pt x="16785" y="16785"/>
                  </a:cubicBezTo>
                  <a:cubicBezTo>
                    <a:pt x="27533" y="6038"/>
                    <a:pt x="42109" y="0"/>
                    <a:pt x="57309" y="0"/>
                  </a:cubicBezTo>
                  <a:close/>
                </a:path>
              </a:pathLst>
            </a:custGeom>
            <a:solidFill>
              <a:srgbClr val="222B52"/>
            </a:solidFill>
          </p:spPr>
        </p:sp>
        <p:sp>
          <p:nvSpPr>
            <p:cNvPr id="64" name="TextBox 64"/>
            <p:cNvSpPr txBox="1"/>
            <p:nvPr/>
          </p:nvSpPr>
          <p:spPr>
            <a:xfrm>
              <a:off x="0" y="-38100"/>
              <a:ext cx="1138549" cy="3567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5488514" y="8158864"/>
            <a:ext cx="544748" cy="544748"/>
            <a:chOff x="0" y="0"/>
            <a:chExt cx="812800" cy="81280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3A4469"/>
            </a:solidFill>
          </p:spPr>
        </p:sp>
        <p:sp>
          <p:nvSpPr>
            <p:cNvPr id="67" name="TextBox 67"/>
            <p:cNvSpPr txBox="1"/>
            <p:nvPr/>
          </p:nvSpPr>
          <p:spPr>
            <a:xfrm>
              <a:off x="203200" y="-38100"/>
              <a:ext cx="406400" cy="749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8" name="TextBox 68"/>
          <p:cNvSpPr txBox="1"/>
          <p:nvPr/>
        </p:nvSpPr>
        <p:spPr>
          <a:xfrm>
            <a:off x="13882576" y="8796907"/>
            <a:ext cx="3352403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Web Dashboard/Reports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4250389" y="9530738"/>
            <a:ext cx="2592586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View Results ,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788436" y="1699485"/>
            <a:ext cx="6711128" cy="6207793"/>
          </a:xfrm>
          <a:custGeom>
            <a:avLst/>
            <a:gdLst/>
            <a:ahLst/>
            <a:cxnLst/>
            <a:rect l="l" t="t" r="r" b="b"/>
            <a:pathLst>
              <a:path w="6711128" h="6207793">
                <a:moveTo>
                  <a:pt x="0" y="0"/>
                </a:moveTo>
                <a:lnTo>
                  <a:pt x="6711128" y="0"/>
                </a:lnTo>
                <a:lnTo>
                  <a:pt x="6711128" y="6207793"/>
                </a:lnTo>
                <a:lnTo>
                  <a:pt x="0" y="62077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 flipV="1">
            <a:off x="17788875" y="-6134713"/>
            <a:ext cx="0" cy="20954906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-1618300" y="1699485"/>
            <a:ext cx="20954906" cy="0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-1618300" y="8111239"/>
            <a:ext cx="20954906" cy="0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-1799103" y="9186939"/>
            <a:ext cx="5316075" cy="1969184"/>
            <a:chOff x="0" y="0"/>
            <a:chExt cx="1400119" cy="5186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00119" cy="518633"/>
            </a:xfrm>
            <a:custGeom>
              <a:avLst/>
              <a:gdLst/>
              <a:ahLst/>
              <a:cxnLst/>
              <a:rect l="l" t="t" r="r" b="b"/>
              <a:pathLst>
                <a:path w="1400119" h="518633">
                  <a:moveTo>
                    <a:pt x="145632" y="0"/>
                  </a:moveTo>
                  <a:lnTo>
                    <a:pt x="1254486" y="0"/>
                  </a:lnTo>
                  <a:cubicBezTo>
                    <a:pt x="1334917" y="0"/>
                    <a:pt x="1400119" y="65202"/>
                    <a:pt x="1400119" y="145632"/>
                  </a:cubicBezTo>
                  <a:lnTo>
                    <a:pt x="1400119" y="373000"/>
                  </a:lnTo>
                  <a:cubicBezTo>
                    <a:pt x="1400119" y="411625"/>
                    <a:pt x="1384775" y="448667"/>
                    <a:pt x="1357464" y="475978"/>
                  </a:cubicBezTo>
                  <a:cubicBezTo>
                    <a:pt x="1330153" y="503289"/>
                    <a:pt x="1293110" y="518633"/>
                    <a:pt x="1254486" y="518633"/>
                  </a:cubicBezTo>
                  <a:lnTo>
                    <a:pt x="145632" y="518633"/>
                  </a:lnTo>
                  <a:cubicBezTo>
                    <a:pt x="107008" y="518633"/>
                    <a:pt x="69966" y="503289"/>
                    <a:pt x="42655" y="475978"/>
                  </a:cubicBezTo>
                  <a:cubicBezTo>
                    <a:pt x="15343" y="448667"/>
                    <a:pt x="0" y="411625"/>
                    <a:pt x="0" y="373000"/>
                  </a:cubicBezTo>
                  <a:lnTo>
                    <a:pt x="0" y="145632"/>
                  </a:lnTo>
                  <a:cubicBezTo>
                    <a:pt x="0" y="107008"/>
                    <a:pt x="15343" y="69966"/>
                    <a:pt x="42655" y="42655"/>
                  </a:cubicBezTo>
                  <a:cubicBezTo>
                    <a:pt x="69966" y="15343"/>
                    <a:pt x="107008" y="0"/>
                    <a:pt x="145632" y="0"/>
                  </a:cubicBezTo>
                  <a:close/>
                </a:path>
              </a:pathLst>
            </a:custGeom>
            <a:solidFill>
              <a:srgbClr val="222B5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00119" cy="5567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4806286" y="9758439"/>
            <a:ext cx="17800010" cy="2065376"/>
            <a:chOff x="0" y="0"/>
            <a:chExt cx="4688069" cy="54396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688068" cy="543967"/>
            </a:xfrm>
            <a:custGeom>
              <a:avLst/>
              <a:gdLst/>
              <a:ahLst/>
              <a:cxnLst/>
              <a:rect l="l" t="t" r="r" b="b"/>
              <a:pathLst>
                <a:path w="4688068" h="543967">
                  <a:moveTo>
                    <a:pt x="43494" y="0"/>
                  </a:moveTo>
                  <a:lnTo>
                    <a:pt x="4644575" y="0"/>
                  </a:lnTo>
                  <a:cubicBezTo>
                    <a:pt x="4668596" y="0"/>
                    <a:pt x="4688068" y="19473"/>
                    <a:pt x="4688068" y="43494"/>
                  </a:cubicBezTo>
                  <a:lnTo>
                    <a:pt x="4688068" y="500473"/>
                  </a:lnTo>
                  <a:cubicBezTo>
                    <a:pt x="4688068" y="524494"/>
                    <a:pt x="4668596" y="543967"/>
                    <a:pt x="4644575" y="543967"/>
                  </a:cubicBezTo>
                  <a:lnTo>
                    <a:pt x="43494" y="543967"/>
                  </a:lnTo>
                  <a:cubicBezTo>
                    <a:pt x="19473" y="543967"/>
                    <a:pt x="0" y="524494"/>
                    <a:pt x="0" y="500473"/>
                  </a:cubicBezTo>
                  <a:lnTo>
                    <a:pt x="0" y="43494"/>
                  </a:lnTo>
                  <a:cubicBezTo>
                    <a:pt x="0" y="19473"/>
                    <a:pt x="19473" y="0"/>
                    <a:pt x="43494" y="0"/>
                  </a:cubicBezTo>
                  <a:close/>
                </a:path>
              </a:pathLst>
            </a:custGeom>
            <a:solidFill>
              <a:srgbClr val="222B52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688069" cy="5820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77564" y="1937610"/>
            <a:ext cx="6912123" cy="6633299"/>
            <a:chOff x="0" y="0"/>
            <a:chExt cx="1820477" cy="174704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20477" cy="1747042"/>
            </a:xfrm>
            <a:custGeom>
              <a:avLst/>
              <a:gdLst/>
              <a:ahLst/>
              <a:cxnLst/>
              <a:rect l="l" t="t" r="r" b="b"/>
              <a:pathLst>
                <a:path w="1820477" h="1747042">
                  <a:moveTo>
                    <a:pt x="35842" y="0"/>
                  </a:moveTo>
                  <a:lnTo>
                    <a:pt x="1784635" y="0"/>
                  </a:lnTo>
                  <a:cubicBezTo>
                    <a:pt x="1794141" y="0"/>
                    <a:pt x="1803258" y="3776"/>
                    <a:pt x="1809979" y="10498"/>
                  </a:cubicBezTo>
                  <a:cubicBezTo>
                    <a:pt x="1816701" y="17219"/>
                    <a:pt x="1820477" y="26336"/>
                    <a:pt x="1820477" y="35842"/>
                  </a:cubicBezTo>
                  <a:lnTo>
                    <a:pt x="1820477" y="1711200"/>
                  </a:lnTo>
                  <a:cubicBezTo>
                    <a:pt x="1820477" y="1730995"/>
                    <a:pt x="1804430" y="1747042"/>
                    <a:pt x="1784635" y="1747042"/>
                  </a:cubicBezTo>
                  <a:lnTo>
                    <a:pt x="35842" y="1747042"/>
                  </a:lnTo>
                  <a:cubicBezTo>
                    <a:pt x="26336" y="1747042"/>
                    <a:pt x="17219" y="1743265"/>
                    <a:pt x="10498" y="1736544"/>
                  </a:cubicBezTo>
                  <a:cubicBezTo>
                    <a:pt x="3776" y="1729822"/>
                    <a:pt x="0" y="1720706"/>
                    <a:pt x="0" y="1711200"/>
                  </a:cubicBezTo>
                  <a:lnTo>
                    <a:pt x="0" y="35842"/>
                  </a:lnTo>
                  <a:cubicBezTo>
                    <a:pt x="0" y="26336"/>
                    <a:pt x="3776" y="17219"/>
                    <a:pt x="10498" y="10498"/>
                  </a:cubicBezTo>
                  <a:cubicBezTo>
                    <a:pt x="17219" y="3776"/>
                    <a:pt x="26336" y="0"/>
                    <a:pt x="35842" y="0"/>
                  </a:cubicBezTo>
                  <a:close/>
                </a:path>
              </a:pathLst>
            </a:custGeom>
            <a:solidFill>
              <a:srgbClr val="222B52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820477" cy="1785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413285" y="1976455"/>
            <a:ext cx="8375589" cy="1126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36"/>
              </a:lnSpc>
            </a:pPr>
            <a:r>
              <a:rPr lang="en-US" sz="4818" b="1" spc="-192">
                <a:solidFill>
                  <a:srgbClr val="222223"/>
                </a:solidFill>
                <a:latin typeface="TT Hoves Bold"/>
                <a:ea typeface="TT Hoves Bold"/>
                <a:cs typeface="TT Hoves Bold"/>
                <a:sym typeface="TT Hoves Bold"/>
              </a:rPr>
              <a:t>Value Realization &amp; Business Impact</a:t>
            </a:r>
          </a:p>
        </p:txBody>
      </p:sp>
      <p:sp>
        <p:nvSpPr>
          <p:cNvPr id="16" name="AutoShape 16"/>
          <p:cNvSpPr/>
          <p:nvPr/>
        </p:nvSpPr>
        <p:spPr>
          <a:xfrm flipV="1">
            <a:off x="10347177" y="-6913393"/>
            <a:ext cx="0" cy="20954906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7" name="Group 17"/>
          <p:cNvGrpSpPr/>
          <p:nvPr/>
        </p:nvGrpSpPr>
        <p:grpSpPr>
          <a:xfrm>
            <a:off x="4686950" y="551833"/>
            <a:ext cx="8914100" cy="580379"/>
            <a:chOff x="0" y="0"/>
            <a:chExt cx="2347746" cy="15285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347746" cy="152857"/>
            </a:xfrm>
            <a:custGeom>
              <a:avLst/>
              <a:gdLst/>
              <a:ahLst/>
              <a:cxnLst/>
              <a:rect l="l" t="t" r="r" b="b"/>
              <a:pathLst>
                <a:path w="2347746" h="152857">
                  <a:moveTo>
                    <a:pt x="76429" y="0"/>
                  </a:moveTo>
                  <a:lnTo>
                    <a:pt x="2271318" y="0"/>
                  </a:lnTo>
                  <a:cubicBezTo>
                    <a:pt x="2291588" y="0"/>
                    <a:pt x="2311028" y="8052"/>
                    <a:pt x="2325361" y="22385"/>
                  </a:cubicBezTo>
                  <a:cubicBezTo>
                    <a:pt x="2339694" y="36719"/>
                    <a:pt x="2347746" y="56158"/>
                    <a:pt x="2347746" y="76429"/>
                  </a:cubicBezTo>
                  <a:lnTo>
                    <a:pt x="2347746" y="76429"/>
                  </a:lnTo>
                  <a:cubicBezTo>
                    <a:pt x="2347746" y="96699"/>
                    <a:pt x="2339694" y="116139"/>
                    <a:pt x="2325361" y="130472"/>
                  </a:cubicBezTo>
                  <a:cubicBezTo>
                    <a:pt x="2311028" y="144805"/>
                    <a:pt x="2291588" y="152857"/>
                    <a:pt x="2271318" y="152857"/>
                  </a:cubicBezTo>
                  <a:lnTo>
                    <a:pt x="76429" y="152857"/>
                  </a:lnTo>
                  <a:cubicBezTo>
                    <a:pt x="56158" y="152857"/>
                    <a:pt x="36719" y="144805"/>
                    <a:pt x="22385" y="130472"/>
                  </a:cubicBezTo>
                  <a:cubicBezTo>
                    <a:pt x="8052" y="116139"/>
                    <a:pt x="0" y="96699"/>
                    <a:pt x="0" y="76429"/>
                  </a:cubicBezTo>
                  <a:lnTo>
                    <a:pt x="0" y="76429"/>
                  </a:lnTo>
                  <a:cubicBezTo>
                    <a:pt x="0" y="56158"/>
                    <a:pt x="8052" y="36719"/>
                    <a:pt x="22385" y="22385"/>
                  </a:cubicBezTo>
                  <a:cubicBezTo>
                    <a:pt x="36719" y="8052"/>
                    <a:pt x="56158" y="0"/>
                    <a:pt x="76429" y="0"/>
                  </a:cubicBezTo>
                  <a:close/>
                </a:path>
              </a:pathLst>
            </a:custGeom>
            <a:solidFill>
              <a:srgbClr val="222B52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347746" cy="1909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-127267" y="-359779"/>
            <a:ext cx="3947442" cy="1823225"/>
          </a:xfrm>
          <a:custGeom>
            <a:avLst/>
            <a:gdLst/>
            <a:ahLst/>
            <a:cxnLst/>
            <a:rect l="l" t="t" r="r" b="b"/>
            <a:pathLst>
              <a:path w="3947442" h="1823225">
                <a:moveTo>
                  <a:pt x="0" y="0"/>
                </a:moveTo>
                <a:lnTo>
                  <a:pt x="3947442" y="0"/>
                </a:lnTo>
                <a:lnTo>
                  <a:pt x="3947442" y="1823225"/>
                </a:lnTo>
                <a:lnTo>
                  <a:pt x="0" y="18232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7750091" y="3521247"/>
            <a:ext cx="9498945" cy="893343"/>
          </a:xfrm>
          <a:custGeom>
            <a:avLst/>
            <a:gdLst/>
            <a:ahLst/>
            <a:cxnLst/>
            <a:rect l="l" t="t" r="r" b="b"/>
            <a:pathLst>
              <a:path w="9498945" h="893343">
                <a:moveTo>
                  <a:pt x="0" y="0"/>
                </a:moveTo>
                <a:lnTo>
                  <a:pt x="9498945" y="0"/>
                </a:lnTo>
                <a:lnTo>
                  <a:pt x="9498945" y="893343"/>
                </a:lnTo>
                <a:lnTo>
                  <a:pt x="0" y="893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477564" y="3064904"/>
            <a:ext cx="6407917" cy="4822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8" lvl="1" indent="-237489" algn="l">
              <a:lnSpc>
                <a:spcPts val="2991"/>
              </a:lnSpc>
              <a:buFont typeface="Arial"/>
              <a:buChar char="•"/>
            </a:pPr>
            <a:r>
              <a:rPr lang="en-US" sz="2199" b="1" spc="-54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Engineering Effort Reduction: </a:t>
            </a:r>
            <a:r>
              <a:rPr lang="en-US" sz="2199" spc="-5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Autonomous prompt-based scenario generation replaces the need for continuous, manual UI test script maintenance.</a:t>
            </a:r>
          </a:p>
          <a:p>
            <a:pPr marL="474978" lvl="1" indent="-237489" algn="l">
              <a:lnSpc>
                <a:spcPts val="2991"/>
              </a:lnSpc>
              <a:buFont typeface="Arial"/>
              <a:buChar char="•"/>
            </a:pPr>
            <a:r>
              <a:rPr lang="en-US" sz="2199" b="1" spc="-54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Release Acceleration: </a:t>
            </a:r>
            <a:r>
              <a:rPr lang="en-US" sz="2199" spc="-5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Transitions teams from subjective QA approvals to deterministic, automated Release Gates (e.g., automated PASS/WARN/FAIL status).</a:t>
            </a:r>
          </a:p>
          <a:p>
            <a:pPr marL="474978" lvl="1" indent="-237489" algn="l">
              <a:lnSpc>
                <a:spcPts val="2991"/>
              </a:lnSpc>
              <a:buFont typeface="Arial"/>
              <a:buChar char="•"/>
            </a:pPr>
            <a:r>
              <a:rPr lang="en-US" sz="2199" b="1" spc="-54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Defect Leakage Prevention: </a:t>
            </a:r>
            <a:r>
              <a:rPr lang="en-US" sz="2199" spc="-5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Vision-as-a-Judge catches UI-level hallucinations, markdown breaks, and state traps before they impact production users.</a:t>
            </a:r>
          </a:p>
          <a:p>
            <a:pPr algn="l">
              <a:lnSpc>
                <a:spcPts val="2991"/>
              </a:lnSpc>
            </a:pPr>
            <a:endParaRPr lang="en-US" sz="2199" spc="-5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883279" y="2353847"/>
            <a:ext cx="7810315" cy="305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56"/>
              </a:lnSpc>
            </a:pPr>
            <a:r>
              <a:rPr lang="en-US" sz="2507" b="1" spc="-100">
                <a:solidFill>
                  <a:srgbClr val="F8F7F0"/>
                </a:solidFill>
                <a:latin typeface="TT Hoves Bold"/>
                <a:ea typeface="TT Hoves Bold"/>
                <a:cs typeface="TT Hoves Bold"/>
                <a:sym typeface="TT Hoves Bold"/>
              </a:rPr>
              <a:t>Expected ROI Indicators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831662" y="686844"/>
            <a:ext cx="155802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TechC</a:t>
            </a:r>
            <a:r>
              <a:rPr lang="en-US" sz="1600" u="none" strike="noStrike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on 2026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309836" y="686844"/>
            <a:ext cx="2106447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QE</a:t>
            </a:r>
            <a:r>
              <a:rPr lang="en-US" sz="1600" u="none" strike="noStrike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 Track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223848" y="686844"/>
            <a:ext cx="204535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Team 390-Ag</a:t>
            </a:r>
            <a:r>
              <a:rPr lang="en-US" sz="1600" u="none" strike="noStrike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entForge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8390641" y="4733014"/>
            <a:ext cx="9398234" cy="4906871"/>
            <a:chOff x="0" y="0"/>
            <a:chExt cx="2475255" cy="129234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475255" cy="1292345"/>
            </a:xfrm>
            <a:custGeom>
              <a:avLst/>
              <a:gdLst/>
              <a:ahLst/>
              <a:cxnLst/>
              <a:rect l="l" t="t" r="r" b="b"/>
              <a:pathLst>
                <a:path w="2475255" h="1292345">
                  <a:moveTo>
                    <a:pt x="26360" y="0"/>
                  </a:moveTo>
                  <a:lnTo>
                    <a:pt x="2448895" y="0"/>
                  </a:lnTo>
                  <a:cubicBezTo>
                    <a:pt x="2455886" y="0"/>
                    <a:pt x="2462591" y="2777"/>
                    <a:pt x="2467534" y="7721"/>
                  </a:cubicBezTo>
                  <a:cubicBezTo>
                    <a:pt x="2472478" y="12664"/>
                    <a:pt x="2475255" y="19369"/>
                    <a:pt x="2475255" y="26360"/>
                  </a:cubicBezTo>
                  <a:lnTo>
                    <a:pt x="2475255" y="1265984"/>
                  </a:lnTo>
                  <a:cubicBezTo>
                    <a:pt x="2475255" y="1280543"/>
                    <a:pt x="2463453" y="1292345"/>
                    <a:pt x="2448895" y="1292345"/>
                  </a:cubicBezTo>
                  <a:lnTo>
                    <a:pt x="26360" y="1292345"/>
                  </a:lnTo>
                  <a:cubicBezTo>
                    <a:pt x="19369" y="1292345"/>
                    <a:pt x="12664" y="1289568"/>
                    <a:pt x="7721" y="1284624"/>
                  </a:cubicBezTo>
                  <a:cubicBezTo>
                    <a:pt x="2777" y="1279680"/>
                    <a:pt x="0" y="1272976"/>
                    <a:pt x="0" y="1265984"/>
                  </a:cubicBezTo>
                  <a:lnTo>
                    <a:pt x="0" y="26360"/>
                  </a:lnTo>
                  <a:cubicBezTo>
                    <a:pt x="0" y="19369"/>
                    <a:pt x="2777" y="12664"/>
                    <a:pt x="7721" y="7721"/>
                  </a:cubicBezTo>
                  <a:cubicBezTo>
                    <a:pt x="12664" y="2777"/>
                    <a:pt x="19369" y="0"/>
                    <a:pt x="26360" y="0"/>
                  </a:cubicBezTo>
                  <a:close/>
                </a:path>
              </a:pathLst>
            </a:custGeom>
            <a:solidFill>
              <a:srgbClr val="222B52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475255" cy="13304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3601050" y="5290890"/>
            <a:ext cx="4096912" cy="992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33"/>
              </a:lnSpc>
            </a:pPr>
            <a:r>
              <a:rPr lang="en-US" sz="8036" spc="-321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0-100</a:t>
            </a: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8109" y="4618506"/>
            <a:ext cx="4622936" cy="5325406"/>
          </a:xfrm>
          <a:prstGeom prst="rect">
            <a:avLst/>
          </a:prstGeom>
        </p:spPr>
      </p:pic>
      <p:sp>
        <p:nvSpPr>
          <p:cNvPr id="32" name="TextBox 32"/>
          <p:cNvSpPr txBox="1"/>
          <p:nvPr/>
        </p:nvSpPr>
        <p:spPr>
          <a:xfrm>
            <a:off x="13089758" y="6757302"/>
            <a:ext cx="3964018" cy="2222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1"/>
              </a:lnSpc>
            </a:pPr>
            <a:r>
              <a:rPr lang="en-US" sz="2199" spc="-5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Agent Confidence Score: Instead of subjective Pass/Fail guesses, AVaaS outputs a standardized 0-100 Release Confidence Score based on a weighted evaluation rubric.</a:t>
            </a:r>
          </a:p>
        </p:txBody>
      </p:sp>
      <p:sp>
        <p:nvSpPr>
          <p:cNvPr id="33" name="AutoShape 33"/>
          <p:cNvSpPr/>
          <p:nvPr/>
        </p:nvSpPr>
        <p:spPr>
          <a:xfrm flipV="1">
            <a:off x="10499577" y="-6760993"/>
            <a:ext cx="0" cy="20954906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788436" y="1699485"/>
            <a:ext cx="6711128" cy="6207793"/>
          </a:xfrm>
          <a:custGeom>
            <a:avLst/>
            <a:gdLst/>
            <a:ahLst/>
            <a:cxnLst/>
            <a:rect l="l" t="t" r="r" b="b"/>
            <a:pathLst>
              <a:path w="6711128" h="6207793">
                <a:moveTo>
                  <a:pt x="0" y="0"/>
                </a:moveTo>
                <a:lnTo>
                  <a:pt x="6711128" y="0"/>
                </a:lnTo>
                <a:lnTo>
                  <a:pt x="6711128" y="6207793"/>
                </a:lnTo>
                <a:lnTo>
                  <a:pt x="0" y="62077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 flipV="1">
            <a:off x="17788875" y="-6134713"/>
            <a:ext cx="0" cy="20954906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-1618300" y="1699485"/>
            <a:ext cx="20954906" cy="0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-1618300" y="8111239"/>
            <a:ext cx="20954906" cy="0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15906391" y="9186939"/>
            <a:ext cx="5316075" cy="1969184"/>
            <a:chOff x="0" y="0"/>
            <a:chExt cx="1400119" cy="5186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00119" cy="518633"/>
            </a:xfrm>
            <a:custGeom>
              <a:avLst/>
              <a:gdLst/>
              <a:ahLst/>
              <a:cxnLst/>
              <a:rect l="l" t="t" r="r" b="b"/>
              <a:pathLst>
                <a:path w="1400119" h="518633">
                  <a:moveTo>
                    <a:pt x="145632" y="0"/>
                  </a:moveTo>
                  <a:lnTo>
                    <a:pt x="1254486" y="0"/>
                  </a:lnTo>
                  <a:cubicBezTo>
                    <a:pt x="1334917" y="0"/>
                    <a:pt x="1400119" y="65202"/>
                    <a:pt x="1400119" y="145632"/>
                  </a:cubicBezTo>
                  <a:lnTo>
                    <a:pt x="1400119" y="373000"/>
                  </a:lnTo>
                  <a:cubicBezTo>
                    <a:pt x="1400119" y="411625"/>
                    <a:pt x="1384775" y="448667"/>
                    <a:pt x="1357464" y="475978"/>
                  </a:cubicBezTo>
                  <a:cubicBezTo>
                    <a:pt x="1330153" y="503289"/>
                    <a:pt x="1293110" y="518633"/>
                    <a:pt x="1254486" y="518633"/>
                  </a:cubicBezTo>
                  <a:lnTo>
                    <a:pt x="145632" y="518633"/>
                  </a:lnTo>
                  <a:cubicBezTo>
                    <a:pt x="107008" y="518633"/>
                    <a:pt x="69966" y="503289"/>
                    <a:pt x="42655" y="475978"/>
                  </a:cubicBezTo>
                  <a:cubicBezTo>
                    <a:pt x="15343" y="448667"/>
                    <a:pt x="0" y="411625"/>
                    <a:pt x="0" y="373000"/>
                  </a:cubicBezTo>
                  <a:lnTo>
                    <a:pt x="0" y="145632"/>
                  </a:lnTo>
                  <a:cubicBezTo>
                    <a:pt x="0" y="107008"/>
                    <a:pt x="15343" y="69966"/>
                    <a:pt x="42655" y="42655"/>
                  </a:cubicBezTo>
                  <a:cubicBezTo>
                    <a:pt x="69966" y="15343"/>
                    <a:pt x="107008" y="0"/>
                    <a:pt x="145632" y="0"/>
                  </a:cubicBezTo>
                  <a:close/>
                </a:path>
              </a:pathLst>
            </a:custGeom>
            <a:solidFill>
              <a:srgbClr val="222B5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00119" cy="5567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153912" y="9758439"/>
            <a:ext cx="17800010" cy="2065376"/>
            <a:chOff x="0" y="0"/>
            <a:chExt cx="4688069" cy="54396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688068" cy="543967"/>
            </a:xfrm>
            <a:custGeom>
              <a:avLst/>
              <a:gdLst/>
              <a:ahLst/>
              <a:cxnLst/>
              <a:rect l="l" t="t" r="r" b="b"/>
              <a:pathLst>
                <a:path w="4688068" h="543967">
                  <a:moveTo>
                    <a:pt x="43494" y="0"/>
                  </a:moveTo>
                  <a:lnTo>
                    <a:pt x="4644575" y="0"/>
                  </a:lnTo>
                  <a:cubicBezTo>
                    <a:pt x="4668596" y="0"/>
                    <a:pt x="4688068" y="19473"/>
                    <a:pt x="4688068" y="43494"/>
                  </a:cubicBezTo>
                  <a:lnTo>
                    <a:pt x="4688068" y="500473"/>
                  </a:lnTo>
                  <a:cubicBezTo>
                    <a:pt x="4688068" y="524494"/>
                    <a:pt x="4668596" y="543967"/>
                    <a:pt x="4644575" y="543967"/>
                  </a:cubicBezTo>
                  <a:lnTo>
                    <a:pt x="43494" y="543967"/>
                  </a:lnTo>
                  <a:cubicBezTo>
                    <a:pt x="19473" y="543967"/>
                    <a:pt x="0" y="524494"/>
                    <a:pt x="0" y="500473"/>
                  </a:cubicBezTo>
                  <a:lnTo>
                    <a:pt x="0" y="43494"/>
                  </a:lnTo>
                  <a:cubicBezTo>
                    <a:pt x="0" y="19473"/>
                    <a:pt x="19473" y="0"/>
                    <a:pt x="43494" y="0"/>
                  </a:cubicBezTo>
                  <a:close/>
                </a:path>
              </a:pathLst>
            </a:custGeom>
            <a:solidFill>
              <a:srgbClr val="222B52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688069" cy="5820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33176" y="4281236"/>
            <a:ext cx="7136838" cy="4673419"/>
            <a:chOff x="0" y="0"/>
            <a:chExt cx="1879661" cy="123085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9661" cy="1230859"/>
            </a:xfrm>
            <a:custGeom>
              <a:avLst/>
              <a:gdLst/>
              <a:ahLst/>
              <a:cxnLst/>
              <a:rect l="l" t="t" r="r" b="b"/>
              <a:pathLst>
                <a:path w="1879661" h="1230859">
                  <a:moveTo>
                    <a:pt x="34713" y="0"/>
                  </a:moveTo>
                  <a:lnTo>
                    <a:pt x="1844948" y="0"/>
                  </a:lnTo>
                  <a:cubicBezTo>
                    <a:pt x="1854154" y="0"/>
                    <a:pt x="1862984" y="3657"/>
                    <a:pt x="1869494" y="10167"/>
                  </a:cubicBezTo>
                  <a:cubicBezTo>
                    <a:pt x="1876004" y="16677"/>
                    <a:pt x="1879661" y="25507"/>
                    <a:pt x="1879661" y="34713"/>
                  </a:cubicBezTo>
                  <a:lnTo>
                    <a:pt x="1879661" y="1196146"/>
                  </a:lnTo>
                  <a:cubicBezTo>
                    <a:pt x="1879661" y="1215318"/>
                    <a:pt x="1864120" y="1230859"/>
                    <a:pt x="1844948" y="1230859"/>
                  </a:cubicBezTo>
                  <a:lnTo>
                    <a:pt x="34713" y="1230859"/>
                  </a:lnTo>
                  <a:cubicBezTo>
                    <a:pt x="25507" y="1230859"/>
                    <a:pt x="16677" y="1227202"/>
                    <a:pt x="10167" y="1220692"/>
                  </a:cubicBezTo>
                  <a:cubicBezTo>
                    <a:pt x="3657" y="1214182"/>
                    <a:pt x="0" y="1205353"/>
                    <a:pt x="0" y="1196146"/>
                  </a:cubicBezTo>
                  <a:lnTo>
                    <a:pt x="0" y="34713"/>
                  </a:lnTo>
                  <a:cubicBezTo>
                    <a:pt x="0" y="25507"/>
                    <a:pt x="3657" y="16677"/>
                    <a:pt x="10167" y="10167"/>
                  </a:cubicBezTo>
                  <a:cubicBezTo>
                    <a:pt x="16677" y="3657"/>
                    <a:pt x="25507" y="0"/>
                    <a:pt x="34713" y="0"/>
                  </a:cubicBezTo>
                  <a:close/>
                </a:path>
              </a:pathLst>
            </a:custGeom>
            <a:solidFill>
              <a:srgbClr val="222B52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879661" cy="12689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747685" y="1699485"/>
            <a:ext cx="6640682" cy="5505219"/>
            <a:chOff x="0" y="0"/>
            <a:chExt cx="1990935" cy="165051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90937" cy="1650526"/>
            </a:xfrm>
            <a:custGeom>
              <a:avLst/>
              <a:gdLst/>
              <a:ahLst/>
              <a:cxnLst/>
              <a:rect l="l" t="t" r="r" b="b"/>
              <a:pathLst>
                <a:path w="1990937" h="1650526">
                  <a:moveTo>
                    <a:pt x="1503494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1472853"/>
                  </a:lnTo>
                  <a:cubicBezTo>
                    <a:pt x="0" y="1570979"/>
                    <a:pt x="79547" y="1650526"/>
                    <a:pt x="177673" y="1650526"/>
                  </a:cubicBezTo>
                  <a:lnTo>
                    <a:pt x="1813264" y="1650526"/>
                  </a:lnTo>
                  <a:cubicBezTo>
                    <a:pt x="1911390" y="1650526"/>
                    <a:pt x="1990937" y="1570979"/>
                    <a:pt x="1990937" y="1472853"/>
                  </a:cubicBezTo>
                  <a:lnTo>
                    <a:pt x="1990937" y="523958"/>
                  </a:lnTo>
                  <a:cubicBezTo>
                    <a:pt x="1990937" y="480251"/>
                    <a:pt x="1974827" y="438079"/>
                    <a:pt x="1945688" y="405503"/>
                  </a:cubicBezTo>
                  <a:lnTo>
                    <a:pt x="1635911" y="59214"/>
                  </a:lnTo>
                  <a:cubicBezTo>
                    <a:pt x="1602207" y="21536"/>
                    <a:pt x="1554047" y="0"/>
                    <a:pt x="1503494" y="0"/>
                  </a:cubicBezTo>
                  <a:close/>
                </a:path>
              </a:pathLst>
            </a:custGeom>
            <a:blipFill>
              <a:blip r:embed="rId3"/>
              <a:stretch>
                <a:fillRect l="-15947" t="-3315" r="-12412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8568338" y="4281236"/>
            <a:ext cx="8412687" cy="4673419"/>
            <a:chOff x="0" y="0"/>
            <a:chExt cx="2215687" cy="123085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215687" cy="1230859"/>
            </a:xfrm>
            <a:custGeom>
              <a:avLst/>
              <a:gdLst/>
              <a:ahLst/>
              <a:cxnLst/>
              <a:rect l="l" t="t" r="r" b="b"/>
              <a:pathLst>
                <a:path w="2215687" h="1230859">
                  <a:moveTo>
                    <a:pt x="29449" y="0"/>
                  </a:moveTo>
                  <a:lnTo>
                    <a:pt x="2186239" y="0"/>
                  </a:lnTo>
                  <a:cubicBezTo>
                    <a:pt x="2194049" y="0"/>
                    <a:pt x="2201539" y="3103"/>
                    <a:pt x="2207062" y="8625"/>
                  </a:cubicBezTo>
                  <a:cubicBezTo>
                    <a:pt x="2212585" y="14148"/>
                    <a:pt x="2215687" y="21638"/>
                    <a:pt x="2215687" y="29449"/>
                  </a:cubicBezTo>
                  <a:lnTo>
                    <a:pt x="2215687" y="1201411"/>
                  </a:lnTo>
                  <a:cubicBezTo>
                    <a:pt x="2215687" y="1209221"/>
                    <a:pt x="2212585" y="1216711"/>
                    <a:pt x="2207062" y="1222234"/>
                  </a:cubicBezTo>
                  <a:cubicBezTo>
                    <a:pt x="2201539" y="1227757"/>
                    <a:pt x="2194049" y="1230859"/>
                    <a:pt x="2186239" y="1230859"/>
                  </a:cubicBezTo>
                  <a:lnTo>
                    <a:pt x="29449" y="1230859"/>
                  </a:lnTo>
                  <a:cubicBezTo>
                    <a:pt x="21638" y="1230859"/>
                    <a:pt x="14148" y="1227757"/>
                    <a:pt x="8625" y="1222234"/>
                  </a:cubicBezTo>
                  <a:cubicBezTo>
                    <a:pt x="3103" y="1216711"/>
                    <a:pt x="0" y="1209221"/>
                    <a:pt x="0" y="1201411"/>
                  </a:cubicBezTo>
                  <a:lnTo>
                    <a:pt x="0" y="29449"/>
                  </a:lnTo>
                  <a:cubicBezTo>
                    <a:pt x="0" y="21638"/>
                    <a:pt x="3103" y="14148"/>
                    <a:pt x="8625" y="8625"/>
                  </a:cubicBezTo>
                  <a:cubicBezTo>
                    <a:pt x="14148" y="3103"/>
                    <a:pt x="21638" y="0"/>
                    <a:pt x="29449" y="0"/>
                  </a:cubicBezTo>
                  <a:close/>
                </a:path>
              </a:pathLst>
            </a:custGeom>
            <a:solidFill>
              <a:srgbClr val="C6CDD6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215687" cy="12689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33176" y="2128110"/>
            <a:ext cx="10233525" cy="1456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96"/>
              </a:lnSpc>
            </a:pPr>
            <a:r>
              <a:rPr lang="en-US" sz="6218" b="1" spc="-248">
                <a:solidFill>
                  <a:srgbClr val="222223"/>
                </a:solidFill>
                <a:latin typeface="TT Hoves Bold"/>
                <a:ea typeface="TT Hoves Bold"/>
                <a:cs typeface="TT Hoves Bold"/>
                <a:sym typeface="TT Hoves Bold"/>
              </a:rPr>
              <a:t>Security, Compliance &amp; Privacy Controls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1291" y="5231960"/>
            <a:ext cx="6268734" cy="3336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8" lvl="1" indent="-237489" algn="l">
              <a:lnSpc>
                <a:spcPts val="2991"/>
              </a:lnSpc>
              <a:buFont typeface="Arial"/>
              <a:buChar char="•"/>
            </a:pPr>
            <a:r>
              <a:rPr lang="en-US" sz="2199" b="1" spc="-54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Adversarial Defense: </a:t>
            </a:r>
            <a:r>
              <a:rPr lang="en-US" sz="2199" spc="-5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Automated injection and jailbreak simulations ensure agents do not leak internal system prompts or bypass safety boundaries.</a:t>
            </a:r>
          </a:p>
          <a:p>
            <a:pPr marL="474978" lvl="1" indent="-237489" algn="l">
              <a:lnSpc>
                <a:spcPts val="2991"/>
              </a:lnSpc>
              <a:buFont typeface="Arial"/>
              <a:buChar char="•"/>
            </a:pPr>
            <a:r>
              <a:rPr lang="en-US" sz="2199" b="1" spc="-54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Verifiable Audit Trails:</a:t>
            </a:r>
            <a:r>
              <a:rPr lang="en-US" sz="2199" spc="-5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Every validation run captures full-page visual screenshots, raw text, and token traces to support regulatory compliance.</a:t>
            </a:r>
          </a:p>
          <a:p>
            <a:pPr algn="l">
              <a:lnSpc>
                <a:spcPts val="2991"/>
              </a:lnSpc>
            </a:pPr>
            <a:endParaRPr lang="en-US" sz="2199" spc="-5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8709509" y="5379378"/>
            <a:ext cx="8130347" cy="3336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8" lvl="1" indent="-237489" algn="l">
              <a:lnSpc>
                <a:spcPts val="2991"/>
              </a:lnSpc>
              <a:buFont typeface="Arial"/>
              <a:buChar char="•"/>
            </a:pPr>
            <a:r>
              <a:rPr lang="en-US" sz="2199" b="1" spc="-54">
                <a:solidFill>
                  <a:srgbClr val="403D39"/>
                </a:solidFill>
                <a:latin typeface="DM Sans Bold"/>
                <a:ea typeface="DM Sans Bold"/>
                <a:cs typeface="DM Sans Bold"/>
                <a:sym typeface="DM Sans Bold"/>
              </a:rPr>
              <a:t>PII &amp; Privacy Controls:</a:t>
            </a:r>
            <a:r>
              <a:rPr lang="en-US" sz="2199" spc="-54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 Pre-execution PII redaction and dynamic data masking within the evaluation pipeline.</a:t>
            </a:r>
          </a:p>
          <a:p>
            <a:pPr marL="474978" lvl="1" indent="-237489" algn="l">
              <a:lnSpc>
                <a:spcPts val="2991"/>
              </a:lnSpc>
              <a:buFont typeface="Arial"/>
              <a:buChar char="•"/>
            </a:pPr>
            <a:r>
              <a:rPr lang="en-US" sz="2199" b="1" spc="-54">
                <a:solidFill>
                  <a:srgbClr val="403D39"/>
                </a:solidFill>
                <a:latin typeface="DM Sans Bold"/>
                <a:ea typeface="DM Sans Bold"/>
                <a:cs typeface="DM Sans Bold"/>
                <a:sym typeface="DM Sans Bold"/>
              </a:rPr>
              <a:t>Execution Resilience:</a:t>
            </a:r>
            <a:r>
              <a:rPr lang="en-US" sz="2199" spc="-54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 Headless orchestration utilizes built-in circuit breakers and staggered asynchronous loops to safely handle rate limits without crashing.</a:t>
            </a:r>
          </a:p>
          <a:p>
            <a:pPr marL="474978" lvl="1" indent="-237489" algn="l">
              <a:lnSpc>
                <a:spcPts val="2991"/>
              </a:lnSpc>
              <a:buFont typeface="Arial"/>
              <a:buChar char="•"/>
            </a:pPr>
            <a:r>
              <a:rPr lang="en-US" sz="2199" b="1" spc="-54">
                <a:solidFill>
                  <a:srgbClr val="403D39"/>
                </a:solidFill>
                <a:latin typeface="DM Sans Bold"/>
                <a:ea typeface="DM Sans Bold"/>
                <a:cs typeface="DM Sans Bold"/>
                <a:sym typeface="DM Sans Bold"/>
              </a:rPr>
              <a:t>Secure Deployment: </a:t>
            </a:r>
            <a:r>
              <a:rPr lang="en-US" sz="2199" spc="-54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Dockerized infrastructure designed for secure Azure Virtual Machine hosting directly behind enterprise firewalls.</a:t>
            </a:r>
          </a:p>
          <a:p>
            <a:pPr algn="l">
              <a:lnSpc>
                <a:spcPts val="2991"/>
              </a:lnSpc>
            </a:pPr>
            <a:endParaRPr lang="en-US" sz="2199" spc="-54">
              <a:solidFill>
                <a:srgbClr val="403D3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726725" y="4688936"/>
            <a:ext cx="4697865" cy="305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56"/>
              </a:lnSpc>
            </a:pPr>
            <a:r>
              <a:rPr lang="en-US" sz="2507" b="1" spc="-100">
                <a:solidFill>
                  <a:srgbClr val="F8F7F0"/>
                </a:solidFill>
                <a:latin typeface="TT Hoves Bold"/>
                <a:ea typeface="TT Hoves Bold"/>
                <a:cs typeface="TT Hoves Bold"/>
                <a:sym typeface="TT Hoves Bold"/>
              </a:rPr>
              <a:t>Responsible AI Governance</a:t>
            </a:r>
          </a:p>
        </p:txBody>
      </p:sp>
      <p:sp>
        <p:nvSpPr>
          <p:cNvPr id="24" name="AutoShape 24"/>
          <p:cNvSpPr/>
          <p:nvPr/>
        </p:nvSpPr>
        <p:spPr>
          <a:xfrm flipV="1">
            <a:off x="10347177" y="-6913393"/>
            <a:ext cx="0" cy="20954906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5" name="Group 25"/>
          <p:cNvGrpSpPr/>
          <p:nvPr/>
        </p:nvGrpSpPr>
        <p:grpSpPr>
          <a:xfrm>
            <a:off x="4686950" y="551833"/>
            <a:ext cx="8914100" cy="580379"/>
            <a:chOff x="0" y="0"/>
            <a:chExt cx="2347746" cy="15285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347746" cy="152857"/>
            </a:xfrm>
            <a:custGeom>
              <a:avLst/>
              <a:gdLst/>
              <a:ahLst/>
              <a:cxnLst/>
              <a:rect l="l" t="t" r="r" b="b"/>
              <a:pathLst>
                <a:path w="2347746" h="152857">
                  <a:moveTo>
                    <a:pt x="76429" y="0"/>
                  </a:moveTo>
                  <a:lnTo>
                    <a:pt x="2271318" y="0"/>
                  </a:lnTo>
                  <a:cubicBezTo>
                    <a:pt x="2291588" y="0"/>
                    <a:pt x="2311028" y="8052"/>
                    <a:pt x="2325361" y="22385"/>
                  </a:cubicBezTo>
                  <a:cubicBezTo>
                    <a:pt x="2339694" y="36719"/>
                    <a:pt x="2347746" y="56158"/>
                    <a:pt x="2347746" y="76429"/>
                  </a:cubicBezTo>
                  <a:lnTo>
                    <a:pt x="2347746" y="76429"/>
                  </a:lnTo>
                  <a:cubicBezTo>
                    <a:pt x="2347746" y="96699"/>
                    <a:pt x="2339694" y="116139"/>
                    <a:pt x="2325361" y="130472"/>
                  </a:cubicBezTo>
                  <a:cubicBezTo>
                    <a:pt x="2311028" y="144805"/>
                    <a:pt x="2291588" y="152857"/>
                    <a:pt x="2271318" y="152857"/>
                  </a:cubicBezTo>
                  <a:lnTo>
                    <a:pt x="76429" y="152857"/>
                  </a:lnTo>
                  <a:cubicBezTo>
                    <a:pt x="56158" y="152857"/>
                    <a:pt x="36719" y="144805"/>
                    <a:pt x="22385" y="130472"/>
                  </a:cubicBezTo>
                  <a:cubicBezTo>
                    <a:pt x="8052" y="116139"/>
                    <a:pt x="0" y="96699"/>
                    <a:pt x="0" y="76429"/>
                  </a:cubicBezTo>
                  <a:lnTo>
                    <a:pt x="0" y="76429"/>
                  </a:lnTo>
                  <a:cubicBezTo>
                    <a:pt x="0" y="56158"/>
                    <a:pt x="8052" y="36719"/>
                    <a:pt x="22385" y="22385"/>
                  </a:cubicBezTo>
                  <a:cubicBezTo>
                    <a:pt x="36719" y="8052"/>
                    <a:pt x="56158" y="0"/>
                    <a:pt x="76429" y="0"/>
                  </a:cubicBezTo>
                  <a:close/>
                </a:path>
              </a:pathLst>
            </a:custGeom>
            <a:solidFill>
              <a:srgbClr val="222B52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2347746" cy="1909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5831662" y="686844"/>
            <a:ext cx="155802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TechC</a:t>
            </a:r>
            <a:r>
              <a:rPr lang="en-US" sz="1600" u="none" strike="noStrike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on 2026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09836" y="686844"/>
            <a:ext cx="2106447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QE</a:t>
            </a:r>
            <a:r>
              <a:rPr lang="en-US" sz="1600" u="none" strike="noStrike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 Track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223848" y="686844"/>
            <a:ext cx="204535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Team 390-Ag</a:t>
            </a:r>
            <a:r>
              <a:rPr lang="en-US" sz="1600" u="none" strike="noStrike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entForge</a:t>
            </a:r>
          </a:p>
        </p:txBody>
      </p:sp>
      <p:sp>
        <p:nvSpPr>
          <p:cNvPr id="31" name="Freeform 31"/>
          <p:cNvSpPr/>
          <p:nvPr/>
        </p:nvSpPr>
        <p:spPr>
          <a:xfrm>
            <a:off x="-127267" y="-359779"/>
            <a:ext cx="3947442" cy="1823225"/>
          </a:xfrm>
          <a:custGeom>
            <a:avLst/>
            <a:gdLst/>
            <a:ahLst/>
            <a:cxnLst/>
            <a:rect l="l" t="t" r="r" b="b"/>
            <a:pathLst>
              <a:path w="3947442" h="1823225">
                <a:moveTo>
                  <a:pt x="0" y="0"/>
                </a:moveTo>
                <a:lnTo>
                  <a:pt x="3947442" y="0"/>
                </a:lnTo>
                <a:lnTo>
                  <a:pt x="3947442" y="1823225"/>
                </a:lnTo>
                <a:lnTo>
                  <a:pt x="0" y="1823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10425749" y="4641498"/>
            <a:ext cx="4697865" cy="305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56"/>
              </a:lnSpc>
            </a:pPr>
            <a:r>
              <a:rPr lang="en-US" sz="2507" b="1" spc="-100">
                <a:solidFill>
                  <a:srgbClr val="222B52"/>
                </a:solidFill>
                <a:latin typeface="TT Hoves Bold"/>
                <a:ea typeface="TT Hoves Bold"/>
                <a:cs typeface="TT Hoves Bold"/>
                <a:sym typeface="TT Hoves Bold"/>
              </a:rPr>
              <a:t> Platform &amp; Execution Security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788436" y="1699485"/>
            <a:ext cx="6711128" cy="6207793"/>
          </a:xfrm>
          <a:custGeom>
            <a:avLst/>
            <a:gdLst/>
            <a:ahLst/>
            <a:cxnLst/>
            <a:rect l="l" t="t" r="r" b="b"/>
            <a:pathLst>
              <a:path w="6711128" h="6207793">
                <a:moveTo>
                  <a:pt x="0" y="0"/>
                </a:moveTo>
                <a:lnTo>
                  <a:pt x="6711128" y="0"/>
                </a:lnTo>
                <a:lnTo>
                  <a:pt x="6711128" y="6207793"/>
                </a:lnTo>
                <a:lnTo>
                  <a:pt x="0" y="62077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 flipV="1">
            <a:off x="10347177" y="-6913393"/>
            <a:ext cx="0" cy="20954906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 flipV="1">
            <a:off x="17788875" y="-6134713"/>
            <a:ext cx="0" cy="20954906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4686950" y="551833"/>
            <a:ext cx="8914100" cy="580379"/>
            <a:chOff x="0" y="0"/>
            <a:chExt cx="2347746" cy="1528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47746" cy="152857"/>
            </a:xfrm>
            <a:custGeom>
              <a:avLst/>
              <a:gdLst/>
              <a:ahLst/>
              <a:cxnLst/>
              <a:rect l="l" t="t" r="r" b="b"/>
              <a:pathLst>
                <a:path w="2347746" h="152857">
                  <a:moveTo>
                    <a:pt x="76429" y="0"/>
                  </a:moveTo>
                  <a:lnTo>
                    <a:pt x="2271318" y="0"/>
                  </a:lnTo>
                  <a:cubicBezTo>
                    <a:pt x="2291588" y="0"/>
                    <a:pt x="2311028" y="8052"/>
                    <a:pt x="2325361" y="22385"/>
                  </a:cubicBezTo>
                  <a:cubicBezTo>
                    <a:pt x="2339694" y="36719"/>
                    <a:pt x="2347746" y="56158"/>
                    <a:pt x="2347746" y="76429"/>
                  </a:cubicBezTo>
                  <a:lnTo>
                    <a:pt x="2347746" y="76429"/>
                  </a:lnTo>
                  <a:cubicBezTo>
                    <a:pt x="2347746" y="96699"/>
                    <a:pt x="2339694" y="116139"/>
                    <a:pt x="2325361" y="130472"/>
                  </a:cubicBezTo>
                  <a:cubicBezTo>
                    <a:pt x="2311028" y="144805"/>
                    <a:pt x="2291588" y="152857"/>
                    <a:pt x="2271318" y="152857"/>
                  </a:cubicBezTo>
                  <a:lnTo>
                    <a:pt x="76429" y="152857"/>
                  </a:lnTo>
                  <a:cubicBezTo>
                    <a:pt x="56158" y="152857"/>
                    <a:pt x="36719" y="144805"/>
                    <a:pt x="22385" y="130472"/>
                  </a:cubicBezTo>
                  <a:cubicBezTo>
                    <a:pt x="8052" y="116139"/>
                    <a:pt x="0" y="96699"/>
                    <a:pt x="0" y="76429"/>
                  </a:cubicBezTo>
                  <a:lnTo>
                    <a:pt x="0" y="76429"/>
                  </a:lnTo>
                  <a:cubicBezTo>
                    <a:pt x="0" y="56158"/>
                    <a:pt x="8052" y="36719"/>
                    <a:pt x="22385" y="22385"/>
                  </a:cubicBezTo>
                  <a:cubicBezTo>
                    <a:pt x="36719" y="8052"/>
                    <a:pt x="56158" y="0"/>
                    <a:pt x="76429" y="0"/>
                  </a:cubicBezTo>
                  <a:close/>
                </a:path>
              </a:pathLst>
            </a:custGeom>
            <a:solidFill>
              <a:srgbClr val="222B5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347746" cy="1909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-1618300" y="1699485"/>
            <a:ext cx="20954906" cy="0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-1618300" y="8111239"/>
            <a:ext cx="20954906" cy="0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-1799103" y="9186939"/>
            <a:ext cx="5316075" cy="1969184"/>
            <a:chOff x="0" y="0"/>
            <a:chExt cx="1400119" cy="5186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00119" cy="518633"/>
            </a:xfrm>
            <a:custGeom>
              <a:avLst/>
              <a:gdLst/>
              <a:ahLst/>
              <a:cxnLst/>
              <a:rect l="l" t="t" r="r" b="b"/>
              <a:pathLst>
                <a:path w="1400119" h="518633">
                  <a:moveTo>
                    <a:pt x="145632" y="0"/>
                  </a:moveTo>
                  <a:lnTo>
                    <a:pt x="1254486" y="0"/>
                  </a:lnTo>
                  <a:cubicBezTo>
                    <a:pt x="1334917" y="0"/>
                    <a:pt x="1400119" y="65202"/>
                    <a:pt x="1400119" y="145632"/>
                  </a:cubicBezTo>
                  <a:lnTo>
                    <a:pt x="1400119" y="373000"/>
                  </a:lnTo>
                  <a:cubicBezTo>
                    <a:pt x="1400119" y="411625"/>
                    <a:pt x="1384775" y="448667"/>
                    <a:pt x="1357464" y="475978"/>
                  </a:cubicBezTo>
                  <a:cubicBezTo>
                    <a:pt x="1330153" y="503289"/>
                    <a:pt x="1293110" y="518633"/>
                    <a:pt x="1254486" y="518633"/>
                  </a:cubicBezTo>
                  <a:lnTo>
                    <a:pt x="145632" y="518633"/>
                  </a:lnTo>
                  <a:cubicBezTo>
                    <a:pt x="107008" y="518633"/>
                    <a:pt x="69966" y="503289"/>
                    <a:pt x="42655" y="475978"/>
                  </a:cubicBezTo>
                  <a:cubicBezTo>
                    <a:pt x="15343" y="448667"/>
                    <a:pt x="0" y="411625"/>
                    <a:pt x="0" y="373000"/>
                  </a:cubicBezTo>
                  <a:lnTo>
                    <a:pt x="0" y="145632"/>
                  </a:lnTo>
                  <a:cubicBezTo>
                    <a:pt x="0" y="107008"/>
                    <a:pt x="15343" y="69966"/>
                    <a:pt x="42655" y="42655"/>
                  </a:cubicBezTo>
                  <a:cubicBezTo>
                    <a:pt x="69966" y="15343"/>
                    <a:pt x="107008" y="0"/>
                    <a:pt x="145632" y="0"/>
                  </a:cubicBezTo>
                  <a:close/>
                </a:path>
              </a:pathLst>
            </a:custGeom>
            <a:solidFill>
              <a:srgbClr val="222B52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400119" cy="5567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4806286" y="9758439"/>
            <a:ext cx="17800010" cy="2065376"/>
            <a:chOff x="0" y="0"/>
            <a:chExt cx="4688069" cy="54396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688068" cy="543967"/>
            </a:xfrm>
            <a:custGeom>
              <a:avLst/>
              <a:gdLst/>
              <a:ahLst/>
              <a:cxnLst/>
              <a:rect l="l" t="t" r="r" b="b"/>
              <a:pathLst>
                <a:path w="4688068" h="543967">
                  <a:moveTo>
                    <a:pt x="43494" y="0"/>
                  </a:moveTo>
                  <a:lnTo>
                    <a:pt x="4644575" y="0"/>
                  </a:lnTo>
                  <a:cubicBezTo>
                    <a:pt x="4668596" y="0"/>
                    <a:pt x="4688068" y="19473"/>
                    <a:pt x="4688068" y="43494"/>
                  </a:cubicBezTo>
                  <a:lnTo>
                    <a:pt x="4688068" y="500473"/>
                  </a:lnTo>
                  <a:cubicBezTo>
                    <a:pt x="4688068" y="524494"/>
                    <a:pt x="4668596" y="543967"/>
                    <a:pt x="4644575" y="543967"/>
                  </a:cubicBezTo>
                  <a:lnTo>
                    <a:pt x="43494" y="543967"/>
                  </a:lnTo>
                  <a:cubicBezTo>
                    <a:pt x="19473" y="543967"/>
                    <a:pt x="0" y="524494"/>
                    <a:pt x="0" y="500473"/>
                  </a:cubicBezTo>
                  <a:lnTo>
                    <a:pt x="0" y="43494"/>
                  </a:lnTo>
                  <a:cubicBezTo>
                    <a:pt x="0" y="19473"/>
                    <a:pt x="19473" y="0"/>
                    <a:pt x="43494" y="0"/>
                  </a:cubicBezTo>
                  <a:close/>
                </a:path>
              </a:pathLst>
            </a:custGeom>
            <a:solidFill>
              <a:srgbClr val="222B52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688069" cy="5820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-118735" y="-359779"/>
            <a:ext cx="3947442" cy="1823225"/>
          </a:xfrm>
          <a:custGeom>
            <a:avLst/>
            <a:gdLst/>
            <a:ahLst/>
            <a:cxnLst/>
            <a:rect l="l" t="t" r="r" b="b"/>
            <a:pathLst>
              <a:path w="3947442" h="1823225">
                <a:moveTo>
                  <a:pt x="0" y="0"/>
                </a:moveTo>
                <a:lnTo>
                  <a:pt x="3947442" y="0"/>
                </a:lnTo>
                <a:lnTo>
                  <a:pt x="3947442" y="1823225"/>
                </a:lnTo>
                <a:lnTo>
                  <a:pt x="0" y="18232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390320" y="3636230"/>
            <a:ext cx="4464310" cy="4754150"/>
            <a:chOff x="0" y="0"/>
            <a:chExt cx="1175785" cy="125212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75785" cy="1252122"/>
            </a:xfrm>
            <a:custGeom>
              <a:avLst/>
              <a:gdLst/>
              <a:ahLst/>
              <a:cxnLst/>
              <a:rect l="l" t="t" r="r" b="b"/>
              <a:pathLst>
                <a:path w="1175785" h="1252122">
                  <a:moveTo>
                    <a:pt x="55494" y="0"/>
                  </a:moveTo>
                  <a:lnTo>
                    <a:pt x="1120292" y="0"/>
                  </a:lnTo>
                  <a:cubicBezTo>
                    <a:pt x="1150940" y="0"/>
                    <a:pt x="1175785" y="24845"/>
                    <a:pt x="1175785" y="55494"/>
                  </a:cubicBezTo>
                  <a:lnTo>
                    <a:pt x="1175785" y="1196628"/>
                  </a:lnTo>
                  <a:cubicBezTo>
                    <a:pt x="1175785" y="1227276"/>
                    <a:pt x="1150940" y="1252122"/>
                    <a:pt x="1120292" y="1252122"/>
                  </a:cubicBezTo>
                  <a:lnTo>
                    <a:pt x="55494" y="1252122"/>
                  </a:lnTo>
                  <a:cubicBezTo>
                    <a:pt x="24845" y="1252122"/>
                    <a:pt x="0" y="1227276"/>
                    <a:pt x="0" y="1196628"/>
                  </a:cubicBezTo>
                  <a:lnTo>
                    <a:pt x="0" y="55494"/>
                  </a:lnTo>
                  <a:cubicBezTo>
                    <a:pt x="0" y="24845"/>
                    <a:pt x="24845" y="0"/>
                    <a:pt x="55494" y="0"/>
                  </a:cubicBezTo>
                  <a:close/>
                </a:path>
              </a:pathLst>
            </a:custGeom>
            <a:solidFill>
              <a:srgbClr val="222B52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175785" cy="12902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268842" y="3636230"/>
            <a:ext cx="4173604" cy="4786016"/>
            <a:chOff x="0" y="0"/>
            <a:chExt cx="1099221" cy="126051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99221" cy="1260515"/>
            </a:xfrm>
            <a:custGeom>
              <a:avLst/>
              <a:gdLst/>
              <a:ahLst/>
              <a:cxnLst/>
              <a:rect l="l" t="t" r="r" b="b"/>
              <a:pathLst>
                <a:path w="1099221" h="1260515">
                  <a:moveTo>
                    <a:pt x="59359" y="0"/>
                  </a:moveTo>
                  <a:lnTo>
                    <a:pt x="1039862" y="0"/>
                  </a:lnTo>
                  <a:cubicBezTo>
                    <a:pt x="1072645" y="0"/>
                    <a:pt x="1099221" y="26576"/>
                    <a:pt x="1099221" y="59359"/>
                  </a:cubicBezTo>
                  <a:lnTo>
                    <a:pt x="1099221" y="1201155"/>
                  </a:lnTo>
                  <a:cubicBezTo>
                    <a:pt x="1099221" y="1233939"/>
                    <a:pt x="1072645" y="1260515"/>
                    <a:pt x="1039862" y="1260515"/>
                  </a:cubicBezTo>
                  <a:lnTo>
                    <a:pt x="59359" y="1260515"/>
                  </a:lnTo>
                  <a:cubicBezTo>
                    <a:pt x="26576" y="1260515"/>
                    <a:pt x="0" y="1233939"/>
                    <a:pt x="0" y="1201155"/>
                  </a:cubicBezTo>
                  <a:lnTo>
                    <a:pt x="0" y="59359"/>
                  </a:lnTo>
                  <a:cubicBezTo>
                    <a:pt x="0" y="26576"/>
                    <a:pt x="26576" y="0"/>
                    <a:pt x="59359" y="0"/>
                  </a:cubicBezTo>
                  <a:close/>
                </a:path>
              </a:pathLst>
            </a:custGeom>
            <a:solidFill>
              <a:srgbClr val="C6CDD6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099221" cy="12986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480652" y="3636230"/>
            <a:ext cx="5513323" cy="4786016"/>
            <a:chOff x="0" y="0"/>
            <a:chExt cx="1452069" cy="126051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452069" cy="1260515"/>
            </a:xfrm>
            <a:custGeom>
              <a:avLst/>
              <a:gdLst/>
              <a:ahLst/>
              <a:cxnLst/>
              <a:rect l="l" t="t" r="r" b="b"/>
              <a:pathLst>
                <a:path w="1452069" h="1260515">
                  <a:moveTo>
                    <a:pt x="44935" y="0"/>
                  </a:moveTo>
                  <a:lnTo>
                    <a:pt x="1407134" y="0"/>
                  </a:lnTo>
                  <a:cubicBezTo>
                    <a:pt x="1419051" y="0"/>
                    <a:pt x="1430481" y="4734"/>
                    <a:pt x="1438908" y="13161"/>
                  </a:cubicBezTo>
                  <a:cubicBezTo>
                    <a:pt x="1447335" y="21588"/>
                    <a:pt x="1452069" y="33018"/>
                    <a:pt x="1452069" y="44935"/>
                  </a:cubicBezTo>
                  <a:lnTo>
                    <a:pt x="1452069" y="1215579"/>
                  </a:lnTo>
                  <a:cubicBezTo>
                    <a:pt x="1452069" y="1240396"/>
                    <a:pt x="1431951" y="1260515"/>
                    <a:pt x="1407134" y="1260515"/>
                  </a:cubicBezTo>
                  <a:lnTo>
                    <a:pt x="44935" y="1260515"/>
                  </a:lnTo>
                  <a:cubicBezTo>
                    <a:pt x="33018" y="1260515"/>
                    <a:pt x="21588" y="1255780"/>
                    <a:pt x="13161" y="1247353"/>
                  </a:cubicBezTo>
                  <a:cubicBezTo>
                    <a:pt x="4734" y="1238926"/>
                    <a:pt x="0" y="1227497"/>
                    <a:pt x="0" y="1215579"/>
                  </a:cubicBezTo>
                  <a:lnTo>
                    <a:pt x="0" y="44935"/>
                  </a:lnTo>
                  <a:cubicBezTo>
                    <a:pt x="0" y="33018"/>
                    <a:pt x="4734" y="21588"/>
                    <a:pt x="13161" y="13161"/>
                  </a:cubicBezTo>
                  <a:cubicBezTo>
                    <a:pt x="21588" y="4734"/>
                    <a:pt x="33018" y="0"/>
                    <a:pt x="44935" y="0"/>
                  </a:cubicBezTo>
                  <a:close/>
                </a:path>
              </a:pathLst>
            </a:custGeom>
            <a:solidFill>
              <a:srgbClr val="222B52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452069" cy="12986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287411" y="5590905"/>
            <a:ext cx="552805" cy="501198"/>
            <a:chOff x="0" y="0"/>
            <a:chExt cx="632120" cy="57310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32120" cy="573109"/>
            </a:xfrm>
            <a:custGeom>
              <a:avLst/>
              <a:gdLst/>
              <a:ahLst/>
              <a:cxnLst/>
              <a:rect l="l" t="t" r="r" b="b"/>
              <a:pathLst>
                <a:path w="632120" h="573109">
                  <a:moveTo>
                    <a:pt x="632120" y="286554"/>
                  </a:moveTo>
                  <a:lnTo>
                    <a:pt x="225720" y="0"/>
                  </a:lnTo>
                  <a:lnTo>
                    <a:pt x="225720" y="203200"/>
                  </a:lnTo>
                  <a:lnTo>
                    <a:pt x="0" y="203200"/>
                  </a:lnTo>
                  <a:lnTo>
                    <a:pt x="0" y="369909"/>
                  </a:lnTo>
                  <a:lnTo>
                    <a:pt x="225720" y="369909"/>
                  </a:lnTo>
                  <a:lnTo>
                    <a:pt x="225720" y="573109"/>
                  </a:lnTo>
                  <a:lnTo>
                    <a:pt x="632120" y="286554"/>
                  </a:lnTo>
                  <a:close/>
                </a:path>
              </a:pathLst>
            </a:custGeom>
            <a:solidFill>
              <a:srgbClr val="3A4469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165100"/>
              <a:ext cx="530520" cy="2048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656404" y="5564847"/>
            <a:ext cx="610288" cy="553315"/>
            <a:chOff x="0" y="0"/>
            <a:chExt cx="632120" cy="57310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32120" cy="573109"/>
            </a:xfrm>
            <a:custGeom>
              <a:avLst/>
              <a:gdLst/>
              <a:ahLst/>
              <a:cxnLst/>
              <a:rect l="l" t="t" r="r" b="b"/>
              <a:pathLst>
                <a:path w="632120" h="573109">
                  <a:moveTo>
                    <a:pt x="632120" y="286554"/>
                  </a:moveTo>
                  <a:lnTo>
                    <a:pt x="225720" y="0"/>
                  </a:lnTo>
                  <a:lnTo>
                    <a:pt x="225720" y="203200"/>
                  </a:lnTo>
                  <a:lnTo>
                    <a:pt x="0" y="203200"/>
                  </a:lnTo>
                  <a:lnTo>
                    <a:pt x="0" y="369909"/>
                  </a:lnTo>
                  <a:lnTo>
                    <a:pt x="225720" y="369909"/>
                  </a:lnTo>
                  <a:lnTo>
                    <a:pt x="225720" y="573109"/>
                  </a:lnTo>
                  <a:lnTo>
                    <a:pt x="632120" y="286554"/>
                  </a:lnTo>
                  <a:close/>
                </a:path>
              </a:pathLst>
            </a:custGeom>
            <a:solidFill>
              <a:srgbClr val="3A4469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165100"/>
              <a:ext cx="530520" cy="2048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5788436" y="686844"/>
            <a:ext cx="155802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TechC</a:t>
            </a:r>
            <a:r>
              <a:rPr lang="en-US" sz="1600" u="none" strike="noStrike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on 2026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008706" y="686844"/>
            <a:ext cx="1760394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QE Track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442445" y="686130"/>
            <a:ext cx="229968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Team 390-AgentForge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995686" y="2173180"/>
            <a:ext cx="12296628" cy="662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60"/>
              </a:lnSpc>
            </a:pPr>
            <a:r>
              <a:rPr lang="en-US" sz="5400" b="1" spc="-216">
                <a:solidFill>
                  <a:srgbClr val="222223"/>
                </a:solidFill>
                <a:latin typeface="TT Hoves Bold"/>
                <a:ea typeface="TT Hoves Bold"/>
                <a:cs typeface="TT Hoves Bold"/>
                <a:sym typeface="TT Hoves Bold"/>
              </a:rPr>
              <a:t>Scaling to a Centralized AI Quality Hub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68105" y="3880409"/>
            <a:ext cx="4286525" cy="6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F8F7F0"/>
                </a:solidFill>
                <a:latin typeface="DM Sans Bold"/>
                <a:ea typeface="DM Sans Bold"/>
                <a:cs typeface="DM Sans Bold"/>
                <a:sym typeface="DM Sans Bold"/>
              </a:rPr>
              <a:t>Phase 1:  Pilot Implementations (Current)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349355" y="3770117"/>
            <a:ext cx="4012578" cy="772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222B52"/>
                </a:solidFill>
                <a:latin typeface="DM Sans Bold"/>
                <a:ea typeface="DM Sans Bold"/>
                <a:cs typeface="DM Sans Bold"/>
                <a:sym typeface="DM Sans Bold"/>
              </a:rPr>
              <a:t>Phase 2:  DevSecOps Integration &amp; Hub Expansion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44243" y="5096434"/>
            <a:ext cx="4156466" cy="232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9" lvl="1" indent="-205105" algn="l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Onboard initial web-based conversational agents.</a:t>
            </a:r>
          </a:p>
          <a:p>
            <a:pPr marL="410209" lvl="1" indent="-205105" algn="l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Establish baseline success metrics (Latency, Token Cost, Confidence Score) against existing QA methods.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endParaRPr lang="en-US" sz="18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6567449" y="4765281"/>
            <a:ext cx="3345004" cy="3656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9" lvl="1" indent="-205105" algn="l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Integrate AVaaS directly into enterprise GitHub Actions CI/CD pipelines for automated quality governance.</a:t>
            </a:r>
          </a:p>
          <a:p>
            <a:pPr marL="410209" lvl="1" indent="-205105" algn="l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Develop reusable, industry-specific testing templates (e.g., Banking, Healthcare compliance accelerators).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endParaRPr lang="en-US" sz="1899">
              <a:solidFill>
                <a:srgbClr val="403D3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1722949" y="3835324"/>
            <a:ext cx="4849173" cy="772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Phase 3: Omnichannel &amp; Multi-Agent Orchestration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824928" y="5105400"/>
            <a:ext cx="4824770" cy="2656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9" lvl="1" indent="-205105" algn="l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Extend testing orchestration beyond web UI to Mobile, API, and voice-based conversational AI.</a:t>
            </a:r>
          </a:p>
          <a:p>
            <a:pPr marL="410209" lvl="1" indent="-205105" algn="l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Validate complex, end-to-end business processes handled by autonomous multi-agent workflows (CrewAI/LangGraph).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endParaRPr lang="en-US" sz="18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7788875" y="-6134713"/>
            <a:ext cx="0" cy="20954906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5906391" y="9186939"/>
            <a:ext cx="5316075" cy="1969184"/>
            <a:chOff x="0" y="0"/>
            <a:chExt cx="1400119" cy="5186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00119" cy="518633"/>
            </a:xfrm>
            <a:custGeom>
              <a:avLst/>
              <a:gdLst/>
              <a:ahLst/>
              <a:cxnLst/>
              <a:rect l="l" t="t" r="r" b="b"/>
              <a:pathLst>
                <a:path w="1400119" h="518633">
                  <a:moveTo>
                    <a:pt x="145632" y="0"/>
                  </a:moveTo>
                  <a:lnTo>
                    <a:pt x="1254486" y="0"/>
                  </a:lnTo>
                  <a:cubicBezTo>
                    <a:pt x="1334917" y="0"/>
                    <a:pt x="1400119" y="65202"/>
                    <a:pt x="1400119" y="145632"/>
                  </a:cubicBezTo>
                  <a:lnTo>
                    <a:pt x="1400119" y="373000"/>
                  </a:lnTo>
                  <a:cubicBezTo>
                    <a:pt x="1400119" y="411625"/>
                    <a:pt x="1384775" y="448667"/>
                    <a:pt x="1357464" y="475978"/>
                  </a:cubicBezTo>
                  <a:cubicBezTo>
                    <a:pt x="1330153" y="503289"/>
                    <a:pt x="1293110" y="518633"/>
                    <a:pt x="1254486" y="518633"/>
                  </a:cubicBezTo>
                  <a:lnTo>
                    <a:pt x="145632" y="518633"/>
                  </a:lnTo>
                  <a:cubicBezTo>
                    <a:pt x="107008" y="518633"/>
                    <a:pt x="69966" y="503289"/>
                    <a:pt x="42655" y="475978"/>
                  </a:cubicBezTo>
                  <a:cubicBezTo>
                    <a:pt x="15343" y="448667"/>
                    <a:pt x="0" y="411625"/>
                    <a:pt x="0" y="373000"/>
                  </a:cubicBezTo>
                  <a:lnTo>
                    <a:pt x="0" y="145632"/>
                  </a:lnTo>
                  <a:cubicBezTo>
                    <a:pt x="0" y="107008"/>
                    <a:pt x="15343" y="69966"/>
                    <a:pt x="42655" y="42655"/>
                  </a:cubicBezTo>
                  <a:cubicBezTo>
                    <a:pt x="69966" y="15343"/>
                    <a:pt x="107008" y="0"/>
                    <a:pt x="145632" y="0"/>
                  </a:cubicBezTo>
                  <a:close/>
                </a:path>
              </a:pathLst>
            </a:custGeom>
            <a:solidFill>
              <a:srgbClr val="222B5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00119" cy="5567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5788436" y="1699485"/>
            <a:ext cx="6711128" cy="6207793"/>
          </a:xfrm>
          <a:custGeom>
            <a:avLst/>
            <a:gdLst/>
            <a:ahLst/>
            <a:cxnLst/>
            <a:rect l="l" t="t" r="r" b="b"/>
            <a:pathLst>
              <a:path w="6711128" h="6207793">
                <a:moveTo>
                  <a:pt x="0" y="0"/>
                </a:moveTo>
                <a:lnTo>
                  <a:pt x="6711128" y="0"/>
                </a:lnTo>
                <a:lnTo>
                  <a:pt x="6711128" y="6207793"/>
                </a:lnTo>
                <a:lnTo>
                  <a:pt x="0" y="62077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 flipV="1">
            <a:off x="10347177" y="-6913393"/>
            <a:ext cx="0" cy="20954906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6153912" y="9758439"/>
            <a:ext cx="17800010" cy="2065376"/>
            <a:chOff x="0" y="0"/>
            <a:chExt cx="4688069" cy="54396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688068" cy="543967"/>
            </a:xfrm>
            <a:custGeom>
              <a:avLst/>
              <a:gdLst/>
              <a:ahLst/>
              <a:cxnLst/>
              <a:rect l="l" t="t" r="r" b="b"/>
              <a:pathLst>
                <a:path w="4688068" h="543967">
                  <a:moveTo>
                    <a:pt x="43494" y="0"/>
                  </a:moveTo>
                  <a:lnTo>
                    <a:pt x="4644575" y="0"/>
                  </a:lnTo>
                  <a:cubicBezTo>
                    <a:pt x="4668596" y="0"/>
                    <a:pt x="4688068" y="19473"/>
                    <a:pt x="4688068" y="43494"/>
                  </a:cubicBezTo>
                  <a:lnTo>
                    <a:pt x="4688068" y="500473"/>
                  </a:lnTo>
                  <a:cubicBezTo>
                    <a:pt x="4688068" y="524494"/>
                    <a:pt x="4668596" y="543967"/>
                    <a:pt x="4644575" y="543967"/>
                  </a:cubicBezTo>
                  <a:lnTo>
                    <a:pt x="43494" y="543967"/>
                  </a:lnTo>
                  <a:cubicBezTo>
                    <a:pt x="19473" y="543967"/>
                    <a:pt x="0" y="524494"/>
                    <a:pt x="0" y="500473"/>
                  </a:cubicBezTo>
                  <a:lnTo>
                    <a:pt x="0" y="43494"/>
                  </a:lnTo>
                  <a:cubicBezTo>
                    <a:pt x="0" y="19473"/>
                    <a:pt x="19473" y="0"/>
                    <a:pt x="43494" y="0"/>
                  </a:cubicBezTo>
                  <a:close/>
                </a:path>
              </a:pathLst>
            </a:custGeom>
            <a:solidFill>
              <a:srgbClr val="222B5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688069" cy="5820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686950" y="551833"/>
            <a:ext cx="8914100" cy="580379"/>
            <a:chOff x="0" y="0"/>
            <a:chExt cx="2347746" cy="15285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347746" cy="152857"/>
            </a:xfrm>
            <a:custGeom>
              <a:avLst/>
              <a:gdLst/>
              <a:ahLst/>
              <a:cxnLst/>
              <a:rect l="l" t="t" r="r" b="b"/>
              <a:pathLst>
                <a:path w="2347746" h="152857">
                  <a:moveTo>
                    <a:pt x="76429" y="0"/>
                  </a:moveTo>
                  <a:lnTo>
                    <a:pt x="2271318" y="0"/>
                  </a:lnTo>
                  <a:cubicBezTo>
                    <a:pt x="2291588" y="0"/>
                    <a:pt x="2311028" y="8052"/>
                    <a:pt x="2325361" y="22385"/>
                  </a:cubicBezTo>
                  <a:cubicBezTo>
                    <a:pt x="2339694" y="36719"/>
                    <a:pt x="2347746" y="56158"/>
                    <a:pt x="2347746" y="76429"/>
                  </a:cubicBezTo>
                  <a:lnTo>
                    <a:pt x="2347746" y="76429"/>
                  </a:lnTo>
                  <a:cubicBezTo>
                    <a:pt x="2347746" y="96699"/>
                    <a:pt x="2339694" y="116139"/>
                    <a:pt x="2325361" y="130472"/>
                  </a:cubicBezTo>
                  <a:cubicBezTo>
                    <a:pt x="2311028" y="144805"/>
                    <a:pt x="2291588" y="152857"/>
                    <a:pt x="2271318" y="152857"/>
                  </a:cubicBezTo>
                  <a:lnTo>
                    <a:pt x="76429" y="152857"/>
                  </a:lnTo>
                  <a:cubicBezTo>
                    <a:pt x="56158" y="152857"/>
                    <a:pt x="36719" y="144805"/>
                    <a:pt x="22385" y="130472"/>
                  </a:cubicBezTo>
                  <a:cubicBezTo>
                    <a:pt x="8052" y="116139"/>
                    <a:pt x="0" y="96699"/>
                    <a:pt x="0" y="76429"/>
                  </a:cubicBezTo>
                  <a:lnTo>
                    <a:pt x="0" y="76429"/>
                  </a:lnTo>
                  <a:cubicBezTo>
                    <a:pt x="0" y="56158"/>
                    <a:pt x="8052" y="36719"/>
                    <a:pt x="22385" y="22385"/>
                  </a:cubicBezTo>
                  <a:cubicBezTo>
                    <a:pt x="36719" y="8052"/>
                    <a:pt x="56158" y="0"/>
                    <a:pt x="76429" y="0"/>
                  </a:cubicBezTo>
                  <a:close/>
                </a:path>
              </a:pathLst>
            </a:custGeom>
            <a:solidFill>
              <a:srgbClr val="222B52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347746" cy="1909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-1618300" y="1699485"/>
            <a:ext cx="20954906" cy="0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-1618300" y="8111239"/>
            <a:ext cx="20954906" cy="0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6" name="Group 16"/>
          <p:cNvGrpSpPr/>
          <p:nvPr/>
        </p:nvGrpSpPr>
        <p:grpSpPr>
          <a:xfrm>
            <a:off x="11550353" y="1588712"/>
            <a:ext cx="5132886" cy="7017202"/>
            <a:chOff x="0" y="0"/>
            <a:chExt cx="1207304" cy="165051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07305" cy="1650526"/>
            </a:xfrm>
            <a:custGeom>
              <a:avLst/>
              <a:gdLst/>
              <a:ahLst/>
              <a:cxnLst/>
              <a:rect l="l" t="t" r="r" b="b"/>
              <a:pathLst>
                <a:path w="1207305" h="1650526">
                  <a:moveTo>
                    <a:pt x="719863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1472853"/>
                  </a:lnTo>
                  <a:cubicBezTo>
                    <a:pt x="0" y="1570979"/>
                    <a:pt x="79547" y="1650526"/>
                    <a:pt x="177673" y="1650526"/>
                  </a:cubicBezTo>
                  <a:lnTo>
                    <a:pt x="1029633" y="1650526"/>
                  </a:lnTo>
                  <a:cubicBezTo>
                    <a:pt x="1127759" y="1650526"/>
                    <a:pt x="1207305" y="1570979"/>
                    <a:pt x="1207305" y="1472853"/>
                  </a:cubicBezTo>
                  <a:lnTo>
                    <a:pt x="1207305" y="523958"/>
                  </a:lnTo>
                  <a:cubicBezTo>
                    <a:pt x="1207305" y="480251"/>
                    <a:pt x="1191196" y="438079"/>
                    <a:pt x="1162057" y="405503"/>
                  </a:cubicBezTo>
                  <a:lnTo>
                    <a:pt x="852279" y="59214"/>
                  </a:lnTo>
                  <a:cubicBezTo>
                    <a:pt x="818575" y="21536"/>
                    <a:pt x="770416" y="0"/>
                    <a:pt x="719863" y="0"/>
                  </a:cubicBezTo>
                  <a:close/>
                </a:path>
              </a:pathLst>
            </a:custGeom>
            <a:blipFill>
              <a:blip r:embed="rId3"/>
              <a:stretch>
                <a:fillRect l="-17560" r="-17560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1121215" y="2398357"/>
            <a:ext cx="10369376" cy="244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875"/>
              </a:lnSpc>
            </a:pPr>
            <a:r>
              <a:rPr lang="en-US" sz="19861" spc="-794">
                <a:solidFill>
                  <a:srgbClr val="222223"/>
                </a:solidFill>
                <a:latin typeface="TT Hoves"/>
                <a:ea typeface="TT Hoves"/>
                <a:cs typeface="TT Hoves"/>
                <a:sym typeface="TT Hoves"/>
              </a:rPr>
              <a:t>Thank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80977" y="4424078"/>
            <a:ext cx="10369376" cy="2442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875"/>
              </a:lnSpc>
            </a:pPr>
            <a:r>
              <a:rPr lang="en-US" sz="19861" b="1" spc="-794">
                <a:solidFill>
                  <a:srgbClr val="222223"/>
                </a:solidFill>
                <a:latin typeface="TT Hoves Bold"/>
                <a:ea typeface="TT Hoves Bold"/>
                <a:cs typeface="TT Hoves Bold"/>
                <a:sym typeface="TT Hoves Bold"/>
              </a:rPr>
              <a:t>You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153912" y="686844"/>
            <a:ext cx="155802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TechC</a:t>
            </a:r>
            <a:r>
              <a:rPr lang="en-US" sz="1600" u="none" strike="noStrike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on 2026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92975" y="8634489"/>
            <a:ext cx="6439950" cy="979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1"/>
              </a:lnSpc>
            </a:pPr>
            <a:r>
              <a:rPr lang="en-US" sz="2399" b="1" spc="-141">
                <a:solidFill>
                  <a:srgbClr val="222B52"/>
                </a:solidFill>
                <a:latin typeface="DM Sans Bold"/>
                <a:ea typeface="DM Sans Bold"/>
                <a:cs typeface="DM Sans Bold"/>
                <a:sym typeface="DM Sans Bold"/>
              </a:rPr>
              <a:t>Industry : QE  |  Sub-Industry : QA Automation</a:t>
            </a:r>
          </a:p>
          <a:p>
            <a:pPr algn="l">
              <a:lnSpc>
                <a:spcPts val="2591"/>
              </a:lnSpc>
            </a:pPr>
            <a:endParaRPr lang="en-US" sz="2399" b="1" spc="-141">
              <a:solidFill>
                <a:srgbClr val="222B52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algn="l">
              <a:lnSpc>
                <a:spcPts val="2591"/>
              </a:lnSpc>
            </a:pPr>
            <a:r>
              <a:rPr lang="en-US" sz="2399" b="1" spc="-141">
                <a:solidFill>
                  <a:srgbClr val="222B52"/>
                </a:solidFill>
                <a:latin typeface="DM Sans Bold"/>
                <a:ea typeface="DM Sans Bold"/>
                <a:cs typeface="DM Sans Bold"/>
                <a:sym typeface="DM Sans Bold"/>
              </a:rPr>
              <a:t>Title : Agent Validator Platform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240730" y="686844"/>
            <a:ext cx="2106447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QE</a:t>
            </a:r>
            <a:r>
              <a:rPr lang="en-US" sz="1600" u="none" strike="noStrike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 Track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618618" y="686844"/>
            <a:ext cx="241374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Team 390-Ag</a:t>
            </a:r>
            <a:r>
              <a:rPr lang="en-US" sz="1600" u="none" strike="noStrike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entForge</a:t>
            </a:r>
          </a:p>
        </p:txBody>
      </p:sp>
      <p:sp>
        <p:nvSpPr>
          <p:cNvPr id="24" name="Freeform 24"/>
          <p:cNvSpPr/>
          <p:nvPr/>
        </p:nvSpPr>
        <p:spPr>
          <a:xfrm>
            <a:off x="-118735" y="-359779"/>
            <a:ext cx="3947442" cy="1823225"/>
          </a:xfrm>
          <a:custGeom>
            <a:avLst/>
            <a:gdLst/>
            <a:ahLst/>
            <a:cxnLst/>
            <a:rect l="l" t="t" r="r" b="b"/>
            <a:pathLst>
              <a:path w="3947442" h="1823225">
                <a:moveTo>
                  <a:pt x="0" y="0"/>
                </a:moveTo>
                <a:lnTo>
                  <a:pt x="3947442" y="0"/>
                </a:lnTo>
                <a:lnTo>
                  <a:pt x="3947442" y="1823225"/>
                </a:lnTo>
                <a:lnTo>
                  <a:pt x="0" y="1823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707</Words>
  <Application>Microsoft Office PowerPoint</Application>
  <PresentationFormat>Custom</PresentationFormat>
  <Paragraphs>80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DM Sans</vt:lpstr>
      <vt:lpstr>Arial</vt:lpstr>
      <vt:lpstr>TT Hoves Bold</vt:lpstr>
      <vt:lpstr>TT Hoves</vt:lpstr>
      <vt:lpstr>Calibri</vt:lpstr>
      <vt:lpstr>DM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Techcon Hackathon</dc:title>
  <cp:lastModifiedBy>Shreesanyog Rath</cp:lastModifiedBy>
  <cp:revision>2</cp:revision>
  <dcterms:created xsi:type="dcterms:W3CDTF">2006-08-16T00:00:00Z</dcterms:created>
  <dcterms:modified xsi:type="dcterms:W3CDTF">2026-08-31T19:56:29Z</dcterms:modified>
  <dc:identifier>DAHS2u8xR1c</dc:identifier>
</cp:coreProperties>
</file>